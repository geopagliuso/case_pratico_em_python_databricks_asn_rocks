
<file path=[Content_Types].xml><?xml version="1.0" encoding="utf-8"?>
<Types xmlns="http://schemas.openxmlformats.org/package/2006/content-types"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75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71" r:id="rId12"/>
    <p:sldId id="272" r:id="rId13"/>
    <p:sldId id="266" r:id="rId14"/>
    <p:sldId id="268" r:id="rId15"/>
    <p:sldId id="276" r:id="rId16"/>
    <p:sldId id="270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Abertura" id="{FF846CAD-03A4-8615-64DC-6C3B9CD3A9BC}">
          <p14:sldIdLst>
            <p14:sldId id="256"/>
            <p14:sldId id="275"/>
          </p14:sldIdLst>
        </p14:section>
        <p14:section name="Dados" id="{CBF5F796-6BB7-9979-0C41-62D2D8380AAE}">
          <p14:sldIdLst>
            <p14:sldId id="258"/>
            <p14:sldId id="259"/>
            <p14:sldId id="260"/>
            <p14:sldId id="261"/>
            <p14:sldId id="262"/>
            <p14:sldId id="263"/>
          </p14:sldIdLst>
        </p14:section>
        <p14:section name="Modelagem" id="{BF2D3DB7-3978-66B0-FB38-CF8A97CD1C7F}">
          <p14:sldIdLst>
            <p14:sldId id="264"/>
            <p14:sldId id="265"/>
          </p14:sldIdLst>
        </p14:section>
        <p14:section name="Avaliação" id="{9173351C-16DC-D654-2244-0A72DD148E95}">
          <p14:sldIdLst>
            <p14:sldId id="271"/>
            <p14:sldId id="272"/>
            <p14:sldId id="266"/>
            <p14:sldId id="268"/>
            <p14:sldId id="276"/>
            <p14:sldId id="270"/>
          </p14:sldIdLst>
        </p14:section>
        <p14:section name="Encerramento" id="{DAF174ED-1CEF-DAB9-B68F-C06F3C6ECE2D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78" d="100"/>
          <a:sy n="78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9143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chemeClr val="tx2"/>
                </a:solidFill>
              </a:rPr>
              <a:t>Na OOT, a taxa de </a:t>
            </a:r>
            <a:r>
              <a:rPr lang="en-US" sz="1200" i="1" dirty="0" err="1">
                <a:solidFill>
                  <a:schemeClr val="tx2"/>
                </a:solidFill>
              </a:rPr>
              <a:t>resposta</a:t>
            </a:r>
            <a:r>
              <a:rPr lang="en-US" sz="1200" i="1" dirty="0">
                <a:solidFill>
                  <a:schemeClr val="tx2"/>
                </a:solidFill>
              </a:rPr>
              <a:t> é </a:t>
            </a:r>
            <a:r>
              <a:rPr lang="en-US" sz="1200" i="1" dirty="0" err="1">
                <a:solidFill>
                  <a:schemeClr val="tx2"/>
                </a:solidFill>
              </a:rPr>
              <a:t>cerca</a:t>
            </a:r>
            <a:r>
              <a:rPr lang="en-US" sz="1200" i="1" dirty="0">
                <a:solidFill>
                  <a:schemeClr val="tx2"/>
                </a:solidFill>
              </a:rPr>
              <a:t> do dobro da </a:t>
            </a:r>
            <a:r>
              <a:rPr lang="en-US" sz="1200" i="1" dirty="0" err="1">
                <a:solidFill>
                  <a:schemeClr val="tx2"/>
                </a:solidFill>
              </a:rPr>
              <a:t>observada</a:t>
            </a:r>
            <a:r>
              <a:rPr lang="en-US" sz="1200" i="1" dirty="0">
                <a:solidFill>
                  <a:schemeClr val="tx2"/>
                </a:solidFill>
              </a:rPr>
              <a:t> </a:t>
            </a:r>
            <a:r>
              <a:rPr lang="en-US" sz="1200" i="1" dirty="0" err="1">
                <a:solidFill>
                  <a:schemeClr val="tx2"/>
                </a:solidFill>
              </a:rPr>
              <a:t>em</a:t>
            </a:r>
            <a:r>
              <a:rPr lang="en-US" sz="1200" i="1" dirty="0">
                <a:solidFill>
                  <a:schemeClr val="tx2"/>
                </a:solidFill>
              </a:rPr>
              <a:t> </a:t>
            </a:r>
            <a:r>
              <a:rPr lang="en-US" sz="1200" i="1" dirty="0" err="1">
                <a:solidFill>
                  <a:schemeClr val="tx2"/>
                </a:solidFill>
              </a:rPr>
              <a:t>treino</a:t>
            </a:r>
            <a:r>
              <a:rPr lang="en-US" sz="1200" i="1" dirty="0">
                <a:solidFill>
                  <a:schemeClr val="tx2"/>
                </a:solidFill>
              </a:rPr>
              <a:t> e teste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2"/>
                </a:solidFill>
              </a:rPr>
              <a:t>inf: </a:t>
            </a:r>
            <a:r>
              <a:rPr lang="en-US" sz="1200" dirty="0" err="1">
                <a:solidFill>
                  <a:schemeClr val="tx2"/>
                </a:solidFill>
              </a:rPr>
              <a:t>média</a:t>
            </a:r>
            <a:r>
              <a:rPr lang="en-US" sz="1200" dirty="0">
                <a:solidFill>
                  <a:schemeClr val="tx2"/>
                </a:solidFill>
              </a:rPr>
              <a:t> zero entre quem </a:t>
            </a:r>
            <a:r>
              <a:rPr lang="en-US" sz="1200" dirty="0" err="1">
                <a:solidFill>
                  <a:schemeClr val="tx2"/>
                </a:solidFill>
              </a:rPr>
              <a:t>não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ativa</a:t>
            </a:r>
            <a:r>
              <a:rPr lang="en-US" sz="1200" dirty="0">
                <a:solidFill>
                  <a:schemeClr val="tx2"/>
                </a:solidFill>
              </a:rPr>
              <a:t>  ·  </a:t>
            </a:r>
            <a:r>
              <a:rPr lang="en-US" sz="1200" dirty="0" err="1">
                <a:solidFill>
                  <a:schemeClr val="tx2"/>
                </a:solidFill>
              </a:rPr>
              <a:t>NaN</a:t>
            </a:r>
            <a:r>
              <a:rPr lang="en-US" sz="1200" dirty="0">
                <a:solidFill>
                  <a:schemeClr val="tx2"/>
                </a:solidFill>
              </a:rPr>
              <a:t>: zero </a:t>
            </a:r>
            <a:r>
              <a:rPr lang="en-US" sz="1200" dirty="0" err="1">
                <a:solidFill>
                  <a:schemeClr val="tx2"/>
                </a:solidFill>
              </a:rPr>
              <a:t>nos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dois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grupos</a:t>
            </a:r>
            <a:r>
              <a:rPr lang="en-US" sz="1200" dirty="0">
                <a:solidFill>
                  <a:schemeClr val="tx2"/>
                </a:solidFill>
              </a:rPr>
              <a:t> / </a:t>
            </a:r>
            <a:r>
              <a:rPr lang="en-US" sz="1200" dirty="0" err="1">
                <a:solidFill>
                  <a:schemeClr val="tx2"/>
                </a:solidFill>
              </a:rPr>
              <a:t>Exploração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somente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na</a:t>
            </a:r>
            <a:r>
              <a:rPr lang="en-US" sz="1200" dirty="0">
                <a:solidFill>
                  <a:schemeClr val="tx2"/>
                </a:solidFill>
              </a:rPr>
              <a:t> base de </a:t>
            </a:r>
            <a:r>
              <a:rPr lang="en-US" sz="1200" dirty="0" err="1">
                <a:solidFill>
                  <a:schemeClr val="tx2"/>
                </a:solidFill>
              </a:rPr>
              <a:t>treino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 err="1">
                <a:solidFill>
                  <a:schemeClr val="tx2"/>
                </a:solidFill>
              </a:rPr>
              <a:t>Praticamente</a:t>
            </a:r>
            <a:r>
              <a:rPr lang="en-US" sz="1200" dirty="0">
                <a:solidFill>
                  <a:schemeClr val="tx2"/>
                </a:solidFill>
              </a:rPr>
              <a:t> um </a:t>
            </a:r>
            <a:r>
              <a:rPr lang="en-US" sz="1200" dirty="0" err="1">
                <a:solidFill>
                  <a:schemeClr val="tx2"/>
                </a:solidFill>
              </a:rPr>
              <a:t>único</a:t>
            </a:r>
            <a:r>
              <a:rPr lang="en-US" sz="1200" dirty="0">
                <a:solidFill>
                  <a:schemeClr val="tx2"/>
                </a:solidFill>
              </a:rPr>
              <a:t> valor </a:t>
            </a:r>
            <a:r>
              <a:rPr lang="en-US" sz="1200" dirty="0" err="1">
                <a:solidFill>
                  <a:schemeClr val="tx2"/>
                </a:solidFill>
              </a:rPr>
              <a:t>em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toda</a:t>
            </a:r>
            <a:r>
              <a:rPr lang="en-US" sz="1200" dirty="0">
                <a:solidFill>
                  <a:schemeClr val="tx2"/>
                </a:solidFill>
              </a:rPr>
              <a:t> a base: </a:t>
            </a:r>
            <a:r>
              <a:rPr lang="en-US" sz="1200" dirty="0" err="1">
                <a:solidFill>
                  <a:schemeClr val="tx2"/>
                </a:solidFill>
              </a:rPr>
              <a:t>pouca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informação</a:t>
            </a:r>
            <a:r>
              <a:rPr lang="en-US" sz="1200" dirty="0">
                <a:solidFill>
                  <a:schemeClr val="tx2"/>
                </a:solidFill>
              </a:rPr>
              <a:t> para </a:t>
            </a:r>
            <a:r>
              <a:rPr lang="en-US" sz="1200" dirty="0" err="1">
                <a:solidFill>
                  <a:schemeClr val="tx2"/>
                </a:solidFill>
              </a:rPr>
              <a:t>separar</a:t>
            </a:r>
            <a:r>
              <a:rPr lang="en-US" sz="1200" dirty="0">
                <a:solidFill>
                  <a:schemeClr val="tx2"/>
                </a:solidFill>
              </a:rPr>
              <a:t> quem </a:t>
            </a:r>
            <a:r>
              <a:rPr lang="en-US" sz="1200" dirty="0" err="1">
                <a:solidFill>
                  <a:schemeClr val="tx2"/>
                </a:solidFill>
              </a:rPr>
              <a:t>ativa</a:t>
            </a:r>
            <a:r>
              <a:rPr lang="en-US" sz="1200" dirty="0">
                <a:solidFill>
                  <a:schemeClr val="tx2"/>
                </a:solidFill>
              </a:rPr>
              <a:t> de quem </a:t>
            </a:r>
            <a:r>
              <a:rPr lang="en-US" sz="1200" dirty="0" err="1">
                <a:solidFill>
                  <a:schemeClr val="tx2"/>
                </a:solidFill>
              </a:rPr>
              <a:t>não</a:t>
            </a:r>
            <a:r>
              <a:rPr lang="en-US" sz="1200" dirty="0">
                <a:solidFill>
                  <a:schemeClr val="tx2"/>
                </a:solidFill>
              </a:rPr>
              <a:t> </a:t>
            </a:r>
            <a:r>
              <a:rPr lang="en-US" sz="1200" dirty="0" err="1">
                <a:solidFill>
                  <a:schemeClr val="tx2"/>
                </a:solidFill>
              </a:rPr>
              <a:t>ativa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solidFill>
                  <a:schemeClr val="tx2"/>
                </a:solidFill>
              </a:rPr>
              <a:t>11 </a:t>
            </a:r>
            <a:r>
              <a:rPr lang="en-US" sz="1200" dirty="0" err="1">
                <a:solidFill>
                  <a:schemeClr val="tx2"/>
                </a:solidFill>
              </a:rPr>
              <a:t>variáveis</a:t>
            </a:r>
            <a:r>
              <a:rPr lang="en-US" sz="1200" dirty="0">
                <a:solidFill>
                  <a:schemeClr val="tx2"/>
                </a:solidFill>
              </a:rPr>
              <a:t> / 2 </a:t>
            </a:r>
            <a:r>
              <a:rPr lang="en-US" sz="1200" dirty="0" err="1">
                <a:solidFill>
                  <a:schemeClr val="tx2"/>
                </a:solidFill>
              </a:rPr>
              <a:t>variáveis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Código completo dos algoritmos e grids:
modelos = {
    "random_forest": (
        ensemble.RandomForestClassifier(n_estimators=500, random_state=42, n_jobs=-1),
        {
            "classificador__min_samples_leaf": [10, 100, 200],   # folhas maiores = menos overfitting
            "classificador__max_features": ["sqrt", 0.3, 0.5],
            "classificador__max_depth": [None, 12],
            "classificador__max_samples": [0.7, None],                   # cada árvore vê 70% ou 100% das linhas
        },
    ),
    "xgboost": (
        xgboost.XGBClassifier(subsample=0.8, colsample_bytree=0.8, tree_method="hist",
                              eval_metric="auc", random_state=42, n_jobs=-1),
        {
            "classificador__n_estimators": [300],
            "classificador__learning_rate": [0.03, 0.1],
            "classificador__max_depth": [3, 5, 7],
            "classificador__min_child_weight": [1, 10, 30],              # peso mínimo por folha
            "classificador__reg_lambda": [1, 10],                        # L2
        },
    ),
    "catboost": (
        catboost.CatBoostClassifier(eval_metric="AUC", random_seed=42, verbose=0, allow_writing_files=False),
        {
            "classificador__iterations": [500],
            "classificador__learning_rate": [0.03, 0.1],
            "classificador__depth": [4, 6, 8],
            "classificador__l2_leaf_reg": [1, 3, 10],                    # L2 (o padrão é 3)
        },
    ),
    "lightgbm": (
        # subsample_freq=1 É OBRIGATÓRIO: sem ele o LightGBM ignora o subsample
        lightgbm.LGBMClassifier(subsample=0.8, subsample_freq=1, colsample_bytree=0.8,
                                random_state=42, n_jobs=-1, verbose=-1),
        {
            "classificador__n_estimators": [300],
            "classificador__learning_rate": [0.03, 0.1],
            "classificador__num_leaves": [15, 31],
            "classificador__min_child_samples": [20, 100, 300],          # principal freio contra overfitting
            "classificador__reg_lambda": [0.0, 10.0],                    # L2
        },
    ),
}
      grid = model_selection.GridSearchCV(estimator=model_pipeline,
                                            param_grid=param_grid,
                                            scoring="roc_auc",
                                            cv=cv,
                                            refit=True,
                                            n_jobs=1,
                                            verbose=1)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chemeClr val="tx2"/>
                </a:solidFill>
              </a:rPr>
              <a:t>Em </a:t>
            </a:r>
            <a:r>
              <a:rPr lang="en-US" sz="1200" i="1" dirty="0" err="1">
                <a:solidFill>
                  <a:schemeClr val="tx2"/>
                </a:solidFill>
              </a:rPr>
              <a:t>destaque</a:t>
            </a:r>
            <a:r>
              <a:rPr lang="en-US" sz="1200" i="1" dirty="0">
                <a:solidFill>
                  <a:schemeClr val="tx2"/>
                </a:solidFill>
              </a:rPr>
              <a:t>, o </a:t>
            </a:r>
            <a:r>
              <a:rPr lang="en-US" sz="1200" i="1" dirty="0" err="1">
                <a:solidFill>
                  <a:schemeClr val="tx2"/>
                </a:solidFill>
              </a:rPr>
              <a:t>melhor</a:t>
            </a:r>
            <a:r>
              <a:rPr lang="en-US" sz="1200" i="1" dirty="0">
                <a:solidFill>
                  <a:schemeClr val="tx2"/>
                </a:solidFill>
              </a:rPr>
              <a:t> valor de </a:t>
            </a:r>
            <a:r>
              <a:rPr lang="en-US" sz="1200" i="1" dirty="0" err="1">
                <a:solidFill>
                  <a:schemeClr val="tx2"/>
                </a:solidFill>
              </a:rPr>
              <a:t>cada</a:t>
            </a:r>
            <a:r>
              <a:rPr lang="en-US" sz="1200" i="1" dirty="0">
                <a:solidFill>
                  <a:schemeClr val="tx2"/>
                </a:solidFill>
              </a:rPr>
              <a:t> </a:t>
            </a:r>
            <a:r>
              <a:rPr lang="en-US" sz="1200" i="1" dirty="0" err="1">
                <a:solidFill>
                  <a:schemeClr val="tx2"/>
                </a:solidFill>
              </a:rPr>
              <a:t>coluna</a:t>
            </a:r>
            <a:r>
              <a:rPr lang="en-US" sz="1200" i="1" dirty="0">
                <a:solidFill>
                  <a:schemeClr val="tx2"/>
                </a:solidFill>
              </a:rPr>
              <a:t>  ·  No teste, </a:t>
            </a:r>
            <a:r>
              <a:rPr lang="en-US" sz="1200" i="1" dirty="0" err="1">
                <a:solidFill>
                  <a:schemeClr val="tx2"/>
                </a:solidFill>
              </a:rPr>
              <a:t>os</a:t>
            </a:r>
            <a:r>
              <a:rPr lang="en-US" sz="1200" i="1" dirty="0">
                <a:solidFill>
                  <a:schemeClr val="tx2"/>
                </a:solidFill>
              </a:rPr>
              <a:t> </a:t>
            </a:r>
            <a:r>
              <a:rPr lang="en-US" sz="1200" i="1" dirty="0" err="1">
                <a:solidFill>
                  <a:schemeClr val="tx2"/>
                </a:solidFill>
              </a:rPr>
              <a:t>quatro</a:t>
            </a:r>
            <a:r>
              <a:rPr lang="en-US" sz="1200" i="1" dirty="0">
                <a:solidFill>
                  <a:schemeClr val="tx2"/>
                </a:solidFill>
              </a:rPr>
              <a:t> </a:t>
            </a:r>
            <a:r>
              <a:rPr lang="en-US" sz="1200" i="1" dirty="0" err="1">
                <a:solidFill>
                  <a:schemeClr val="tx2"/>
                </a:solidFill>
              </a:rPr>
              <a:t>ficam</a:t>
            </a:r>
            <a:r>
              <a:rPr lang="en-US" sz="1200" i="1" dirty="0">
                <a:solidFill>
                  <a:schemeClr val="tx2"/>
                </a:solidFill>
              </a:rPr>
              <a:t> a </a:t>
            </a:r>
            <a:r>
              <a:rPr lang="en-US" sz="1200" i="1" dirty="0" err="1">
                <a:solidFill>
                  <a:schemeClr val="tx2"/>
                </a:solidFill>
              </a:rPr>
              <a:t>menos</a:t>
            </a:r>
            <a:r>
              <a:rPr lang="en-US" sz="1200" i="1" dirty="0">
                <a:solidFill>
                  <a:schemeClr val="tx2"/>
                </a:solidFill>
              </a:rPr>
              <a:t> de 0,007 entre </a:t>
            </a:r>
            <a:r>
              <a:rPr lang="en-US" sz="1200" i="1" dirty="0" err="1">
                <a:solidFill>
                  <a:schemeClr val="tx2"/>
                </a:solidFill>
              </a:rPr>
              <a:t>si</a:t>
            </a:r>
            <a:r>
              <a:rPr lang="en-US" sz="1200" i="1" dirty="0">
                <a:solidFill>
                  <a:schemeClr val="tx2"/>
                </a:solidFill>
              </a:rPr>
              <a:t>; no OOT com refit, a </a:t>
            </a:r>
            <a:r>
              <a:rPr lang="en-US" sz="1200" i="1" dirty="0" err="1">
                <a:solidFill>
                  <a:schemeClr val="tx2"/>
                </a:solidFill>
              </a:rPr>
              <a:t>diferença</a:t>
            </a:r>
            <a:r>
              <a:rPr lang="en-US" sz="1200" i="1" dirty="0">
                <a:solidFill>
                  <a:schemeClr val="tx2"/>
                </a:solidFill>
              </a:rPr>
              <a:t> </a:t>
            </a:r>
            <a:r>
              <a:rPr lang="en-US" sz="1200" i="1" dirty="0" err="1">
                <a:solidFill>
                  <a:schemeClr val="tx2"/>
                </a:solidFill>
              </a:rPr>
              <a:t>chega</a:t>
            </a:r>
            <a:r>
              <a:rPr lang="en-US" sz="1200" i="1" dirty="0">
                <a:solidFill>
                  <a:schemeClr val="tx2"/>
                </a:solidFill>
              </a:rPr>
              <a:t> a 0,023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8D92C2-39CA-2E3C-CFEB-91A205BDC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EE22A-A41A-7D17-B5E2-6C06FAFB766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FB19C38-B59C-95E9-A146-79E1C1786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49DBF-1465-1C1F-F4A6-7B7B3A6D7A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4458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chemeClr val="tx2"/>
                </a:solidFill>
              </a:rPr>
              <a:t>Random Forest · base OOT (</a:t>
            </a:r>
            <a:r>
              <a:rPr lang="en-US" sz="1200" i="1" dirty="0" err="1">
                <a:solidFill>
                  <a:schemeClr val="tx2"/>
                </a:solidFill>
              </a:rPr>
              <a:t>dtRef</a:t>
            </a:r>
            <a:r>
              <a:rPr lang="en-US" sz="1200" i="1" dirty="0">
                <a:solidFill>
                  <a:schemeClr val="tx2"/>
                </a:solidFill>
              </a:rPr>
              <a:t> 2026-06-01) · 239 </a:t>
            </a:r>
            <a:r>
              <a:rPr lang="en-US" sz="1200" i="1" dirty="0" err="1">
                <a:solidFill>
                  <a:schemeClr val="tx2"/>
                </a:solidFill>
              </a:rPr>
              <a:t>clientes</a:t>
            </a:r>
            <a:r>
              <a:rPr lang="en-US" sz="1200" i="1" dirty="0">
                <a:solidFill>
                  <a:schemeClr val="tx2"/>
                </a:solidFill>
              </a:rPr>
              <a:t> · taxa </a:t>
            </a:r>
            <a:r>
              <a:rPr lang="en-US" sz="1200" i="1" dirty="0" err="1">
                <a:solidFill>
                  <a:schemeClr val="tx2"/>
                </a:solidFill>
              </a:rPr>
              <a:t>média</a:t>
            </a:r>
            <a:r>
              <a:rPr lang="en-US" sz="1200" i="1" dirty="0">
                <a:solidFill>
                  <a:schemeClr val="tx2"/>
                </a:solidFill>
              </a:rPr>
              <a:t> de churn 43,9%; </a:t>
            </a:r>
            <a:r>
              <a:rPr lang="en-US" sz="1200" dirty="0">
                <a:solidFill>
                  <a:schemeClr val="tx1"/>
                </a:solidFill>
              </a:rPr>
              <a:t>; o </a:t>
            </a:r>
            <a:r>
              <a:rPr lang="en-US" sz="1200" dirty="0" err="1">
                <a:solidFill>
                  <a:schemeClr val="tx1"/>
                </a:solidFill>
              </a:rPr>
              <a:t>máximo</a:t>
            </a:r>
            <a:r>
              <a:rPr lang="en-US" sz="1200" dirty="0">
                <a:solidFill>
                  <a:schemeClr val="tx1"/>
                </a:solidFill>
              </a:rPr>
              <a:t> </a:t>
            </a:r>
            <a:r>
              <a:rPr lang="en-US" sz="1200" dirty="0" err="1">
                <a:solidFill>
                  <a:schemeClr val="tx1"/>
                </a:solidFill>
              </a:rPr>
              <a:t>possível</a:t>
            </a:r>
            <a:r>
              <a:rPr lang="en-US" sz="1200" dirty="0">
                <a:solidFill>
                  <a:schemeClr val="tx1"/>
                </a:solidFill>
              </a:rPr>
              <a:t> com </a:t>
            </a:r>
            <a:r>
              <a:rPr lang="en-US" sz="1200" dirty="0" err="1">
                <a:solidFill>
                  <a:schemeClr val="tx1"/>
                </a:solidFill>
              </a:rPr>
              <a:t>essa</a:t>
            </a:r>
            <a:r>
              <a:rPr lang="en-US" sz="1200" dirty="0">
                <a:solidFill>
                  <a:schemeClr val="tx1"/>
                </a:solidFill>
              </a:rPr>
              <a:t> base é 2,3×</a:t>
            </a:r>
            <a:endParaRPr lang="en-US" sz="12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Lista completa (IdCliente · </a:t>
            </a:r>
            <a:r>
              <a:rPr lang="en-US" dirty="0" err="1"/>
              <a:t>prob_churn</a:t>
            </a:r>
            <a:r>
              <a:rPr lang="en-US" dirty="0"/>
              <a:t>): </a:t>
            </a:r>
            <a:r>
              <a:rPr lang="en-US" sz="1200" i="1" dirty="0">
                <a:solidFill>
                  <a:schemeClr val="tx2"/>
                </a:solidFill>
              </a:rPr>
              <a:t>IDs </a:t>
            </a:r>
            <a:r>
              <a:rPr lang="en-US" sz="1200" i="1" dirty="0" err="1">
                <a:solidFill>
                  <a:schemeClr val="tx2"/>
                </a:solidFill>
              </a:rPr>
              <a:t>abreviados</a:t>
            </a:r>
            <a:r>
              <a:rPr lang="en-US" sz="1200" i="1" dirty="0">
                <a:solidFill>
                  <a:schemeClr val="tx2"/>
                </a:solidFill>
              </a:rPr>
              <a:t> (8 </a:t>
            </a:r>
            <a:r>
              <a:rPr lang="en-US" sz="1200" i="1" dirty="0" err="1">
                <a:solidFill>
                  <a:schemeClr val="tx2"/>
                </a:solidFill>
              </a:rPr>
              <a:t>primeiros</a:t>
            </a:r>
            <a:r>
              <a:rPr lang="en-US" sz="1200" i="1" dirty="0">
                <a:solidFill>
                  <a:schemeClr val="tx2"/>
                </a:solidFill>
              </a:rPr>
              <a:t> </a:t>
            </a:r>
            <a:r>
              <a:rPr lang="en-US" sz="1200" i="1" dirty="0" err="1">
                <a:solidFill>
                  <a:schemeClr val="tx2"/>
                </a:solidFill>
              </a:rPr>
              <a:t>caracteres</a:t>
            </a:r>
            <a:r>
              <a:rPr lang="en-US" sz="1200" i="1" dirty="0">
                <a:solidFill>
                  <a:schemeClr val="tx2"/>
                </a:solidFill>
              </a:rPr>
              <a:t>). A </a:t>
            </a:r>
            <a:r>
              <a:rPr lang="en-US" sz="1200" i="1" dirty="0" err="1">
                <a:solidFill>
                  <a:schemeClr val="tx2"/>
                </a:solidFill>
              </a:rPr>
              <a:t>lista</a:t>
            </a:r>
            <a:r>
              <a:rPr lang="en-US" sz="1200" i="1" dirty="0">
                <a:solidFill>
                  <a:schemeClr val="tx2"/>
                </a:solidFill>
              </a:rPr>
              <a:t> completa </a:t>
            </a:r>
            <a:r>
              <a:rPr lang="en-US" sz="1200" i="1" dirty="0" err="1">
                <a:solidFill>
                  <a:schemeClr val="tx2"/>
                </a:solidFill>
              </a:rPr>
              <a:t>está</a:t>
            </a:r>
            <a:r>
              <a:rPr lang="en-US" sz="1200" i="1" dirty="0">
                <a:solidFill>
                  <a:schemeClr val="tx2"/>
                </a:solidFill>
              </a:rPr>
              <a:t> </a:t>
            </a:r>
            <a:r>
              <a:rPr lang="en-US" sz="1200" i="1" dirty="0" err="1">
                <a:solidFill>
                  <a:schemeClr val="tx2"/>
                </a:solidFill>
              </a:rPr>
              <a:t>nas</a:t>
            </a:r>
            <a:r>
              <a:rPr lang="en-US" sz="1200" i="1" dirty="0">
                <a:solidFill>
                  <a:schemeClr val="tx2"/>
                </a:solidFill>
              </a:rPr>
              <a:t> </a:t>
            </a:r>
            <a:r>
              <a:rPr lang="en-US" sz="1200" i="1" dirty="0" err="1">
                <a:solidFill>
                  <a:schemeClr val="tx2"/>
                </a:solidFill>
              </a:rPr>
              <a:t>notas</a:t>
            </a:r>
            <a:r>
              <a:rPr lang="en-US" sz="1200" i="1" dirty="0">
                <a:solidFill>
                  <a:schemeClr val="tx2"/>
                </a:solidFill>
              </a:rPr>
              <a:t> do slide.</a:t>
            </a:r>
            <a:endParaRPr lang="en-US" sz="1200" dirty="0"/>
          </a:p>
          <a:p>
            <a:r>
              <a:rPr lang="en-US" dirty="0"/>
              <a:t>
1. a1db280b-8560-4f65-8fb0-77df5cb7edc1  0.9895
2. d67e9bfb-6ec6-443c-93f0-9632e095b6ea  0.9632
3. fd663d42-5d89-446c-85dd-fbdc021765a7  0.9608
4. 4fa284fb-8588-429d-8fe5-01ac867f5158  0.9510
5. ca765ed2-30eb-4a5a-bb45-a5d467396e08  0.9473
6. dc0f534d-364b-427b-9959-03c93d11fb21  0.9423
7. 4cd2358e-ecc5-42c8-bee3-3273b75cf0ce  0.9360
8. aafb7ea2-76bb-4bae-b895-9ba77937a9a8  0.9345
9. ee66216e-5ab0-4af2-baf3-500597421388  0.9320
10. 119b90af-acae-4d54-ae75-9f45e246e34f  0.9273
11. 028d6ac0-a347-49b3-923f-8cac66926c31  0.9251
12. 6fdd59b2-1102-430f-8e90-3a691f26bfa2  0.9221
13. c0cc5117-649c-4e00-ae18-e160cc9040e0  0.9216
14. bc027356-4343-40d0-934f-b8697a6e848e  0.9202
15. bbe410ff-5061-41f5-8440-1850589f2e01  0.9169
16. e58e35dd-aa78-412a-904a-95f1413a9df5  0.9131
17. 99c7eff2-e238-434d-91ed-b76adf229b83  0.9124
18. bd98ecd6-23b0-4f15-917d-4b39ff890aa6  0.9088
19. 0b592dd4-6347-435a-9df0-56f8cbca8f34  0.9069
20. 31244830-6109-44e0-aa16-82f3379fbe21  0.9006
21. e6c5a6c7-2fc9-4fb9-8431-3b3fb2961108  0.8985
22. b3125691-9323-4b57-bdf2-88668c4ba373  0.8976
23. 549cd57d-2372-46cb-8c28-8634c6e4538b  0.8965
24. c68f7dfe-655a-4561-bc72-0f1fb65dde06  0.8953
25. 05c0957e-eddb-438a-bbb7-a0bcc175e3fc  0.8953
26. 57006641-55ea-472b-8f43-e31179860c95  0.8927
27. f11f8b8e-31ca-46b4-a026-ab5e76023d28  0.8897
28. 188b3d9b-1e40-40cd-88eb-8dadb13c181e  0.8895
29. 1a666846-a041-402f-bdbe-2a386f1dc82c  0.8885
30. 56d909b7-bad9-46f3-8b9f-8ef13619e925  0.8885
31. 7b9af422-384b-4165-9664-6f8cac1c9a89  0.8710
32. d4ce2a45-8c31-426e-9220-6684f206d004  0.8674
33. aae1a6a4-7a1f-4363-aefe-2a4dc25ed1a3  0.8666
34. ddf0d246-6ea6-4a6a-903b-a78332f0b344  0.8644
35. 9d4a300b-dcb8-40a8-a754-8cc7e4cd9be9  0.8627
36. fa376209-b5db-4361-862a-8fdfde026704  0.8600
37. 962106b9-7f1f-4492-8e9f-099f1cadc94e  0.8575
38. eba7151f-30f8-45f3-ac6e-166f8838c26d  0.8544
39. 0e2cde64-e3a4-4632-a1b8-abf9b708166b  0.8517
40. 57ecc47e-56d2-41c4-be4f-ddc8c6a3b946  0.8454
41. d646ff94-d663-420b-bf0f-609f817b5f81  0.8406
42. fd60694f-cc3e-47a0-98de-cf7bcfbcd2db  0.8387
43. 0dcce5eb-5c50-41b4-b289-3ae6228b478b  0.8375
44. 735e2557-82cc-44e0-b534-a4de988c66b0  0.8370
45. 9419c300-6b50-4dbb-a0c9-1007ce9ac3d7  0.8370
46. e1275ac9-a1b2-4968-9584-2cb7d2e9bf0e  0.8335
47. d92138ad-7b6f-4b5b-8e0d-5041fe5b943a  0.8333
48. 27b14d7a-6e99-4846-8ec0-19160d746c30  0.8279
49. a14274d3-9aee-4642-ad01-02430db7cc32  0.8225
50. 09aef4e8-6921-45d8-9baf-5002fca61e84  0.8178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Público: os 50 clientes com maior prob_churn na safra mais recente (equivale à faixa 1 do lift de churn, onde 77% deram churn no OOT).
As três mecânicas atacam os principais sinais do modelo: recência, frequência/streak e saldo de pontos. Custos de pontos e regras finais devem ser validados com o negócio.
Medição: sortear metade do público como grupo de controle (não recebe a ação) e comparar a taxa de churn em 28 dias entre tratados e controle. Com 25 clientes por grupo, o teste só detecta efeitos grandes; acumular o resultado ao longo de várias safras mensais antes de concluir.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PA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x_cap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0" y="0"/>
            <a:ext cx="512064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" y="1188720"/>
            <a:ext cx="3749040" cy="1920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91840"/>
            <a:ext cx="37490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A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x_se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9184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3931920" y="1600200"/>
            <a:ext cx="47548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3931920" y="1874520"/>
            <a:ext cx="47548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000" dirty="0"/>
          </a:p>
        </p:txBody>
      </p:sp>
      <p:sp>
        <p:nvSpPr>
          <p:cNvPr id="5" name="Text 0"/>
          <p:cNvSpPr>
            <a:spLocks noGrp="1"/>
          </p:cNvSpPr>
          <p:nvPr>
            <p:ph type="body" idx="103" hasCustomPrompt="1"/>
          </p:nvPr>
        </p:nvSpPr>
        <p:spPr>
          <a:xfrm>
            <a:off x="3931920" y="2788920"/>
            <a:ext cx="457200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8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UDO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x_ca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0"/>
            <a:ext cx="2103120" cy="11430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1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1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000" dirty="0"/>
          </a:p>
        </p:txBody>
      </p:sp>
      <p:sp>
        <p:nvSpPr>
          <p:cNvPr id="5" name="Text 0"/>
          <p:cNvSpPr/>
          <p:nvPr/>
        </p:nvSpPr>
        <p:spPr>
          <a:xfrm>
            <a:off x="457200" y="4809744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chemeClr val="tx2"/>
                </a:solidFill>
              </a:rPr>
              <a:t>Case Prático em Python e Databricks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NAL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x_fin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12064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0" y="1737360"/>
            <a:ext cx="329184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48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4800" dirty="0"/>
          </a:p>
        </p:txBody>
      </p:sp>
      <p:sp>
        <p:nvSpPr>
          <p:cNvPr id="4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marL="0" indent="0" algn="l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AO_ITEN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x_seca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3291840" cy="5143500"/>
          </a:xfrm>
          <a:prstGeom prst="rect">
            <a:avLst/>
          </a:prstGeom>
        </p:spPr>
      </p:pic>
      <p:sp>
        <p:nvSpPr>
          <p:cNvPr id="3" name="Text 0"/>
          <p:cNvSpPr>
            <a:spLocks noGrp="1"/>
          </p:cNvSpPr>
          <p:nvPr>
            <p:ph type="body" idx="101" hasCustomPrompt="1"/>
          </p:nvPr>
        </p:nvSpPr>
        <p:spPr>
          <a:xfrm>
            <a:off x="3931920" y="777240"/>
            <a:ext cx="4754880" cy="2743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1200" b="1" dirty="0">
                <a:solidFill>
                  <a:schemeClr val="accent1"/>
                </a:solidFill>
              </a:defRPr>
            </a:lvl1pPr>
          </a:lstStyle>
          <a:p>
            <a:pPr marL="0" indent="0" algn="l">
              <a:buNone/>
            </a:pPr>
            <a:endParaRPr lang="en-US" sz="1200" dirty="0"/>
          </a:p>
        </p:txBody>
      </p:sp>
      <p:sp>
        <p:nvSpPr>
          <p:cNvPr id="4" name="Text 0"/>
          <p:cNvSpPr>
            <a:spLocks noGrp="1"/>
          </p:cNvSpPr>
          <p:nvPr>
            <p:ph type="title" idx="102" hasCustomPrompt="1"/>
          </p:nvPr>
        </p:nvSpPr>
        <p:spPr>
          <a:xfrm>
            <a:off x="3931920" y="1051560"/>
            <a:ext cx="47548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5340877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gif"/><Relationship Id="rId7" Type="http://schemas.openxmlformats.org/officeDocument/2006/relationships/image" Target="../media/image2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9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483325" y="1970858"/>
            <a:ext cx="4225834" cy="1201783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3800" b="1" dirty="0">
                <a:solidFill>
                  <a:schemeClr val="tx1"/>
                </a:solidFill>
              </a:rPr>
              <a:t>Case Prático em Python e Databricks</a:t>
            </a:r>
            <a:endParaRPr lang="en-US" sz="38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" y="3291840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George Pagliuso  ·  2026</a:t>
            </a:r>
            <a:endParaRPr lang="en-US" sz="16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6CFDC66-A0FA-3402-B5B9-D30E8EC410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1509" y="3422468"/>
            <a:ext cx="1721032" cy="17210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3931920" y="77724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200" b="1" kern="0" spc="300" dirty="0">
                <a:solidFill>
                  <a:schemeClr val="accent1"/>
                </a:solidFill>
              </a:rPr>
              <a:t>CONTEXTO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3931920" y="1051560"/>
            <a:ext cx="4754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</a:rPr>
              <a:t>Problema de Negócio</a:t>
            </a:r>
            <a:endParaRPr lang="en-US" sz="3600" dirty="0"/>
          </a:p>
        </p:txBody>
      </p:sp>
      <p:sp>
        <p:nvSpPr>
          <p:cNvPr id="4" name="Conector dos passos"/>
          <p:cNvSpPr/>
          <p:nvPr/>
        </p:nvSpPr>
        <p:spPr>
          <a:xfrm>
            <a:off x="4224528" y="2258568"/>
            <a:ext cx="0" cy="1920240"/>
          </a:xfrm>
          <a:prstGeom prst="line">
            <a:avLst/>
          </a:prstGeom>
          <a:noFill/>
          <a:ln w="19050">
            <a:solidFill>
              <a:schemeClr val="accent3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5" name="Objetivo 1"/>
          <p:cNvSpPr/>
          <p:nvPr/>
        </p:nvSpPr>
        <p:spPr>
          <a:xfrm rot="5400000">
            <a:off x="3897202" y="1975104"/>
            <a:ext cx="654651" cy="566928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Objetivo 1 texto"/>
          <p:cNvSpPr txBox="1"/>
          <p:nvPr/>
        </p:nvSpPr>
        <p:spPr>
          <a:xfrm>
            <a:off x="3941064" y="2031797"/>
            <a:ext cx="566928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754880" y="19842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MODELO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4754880" y="220370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Prever a probabilidade de churn de cada usuário nos próximos 28 dias</a:t>
            </a:r>
            <a:endParaRPr lang="en-US" sz="1500" dirty="0"/>
          </a:p>
        </p:txBody>
      </p:sp>
      <p:sp>
        <p:nvSpPr>
          <p:cNvPr id="9" name="Objetivo 2"/>
          <p:cNvSpPr/>
          <p:nvPr/>
        </p:nvSpPr>
        <p:spPr>
          <a:xfrm rot="5400000">
            <a:off x="3897202" y="2935224"/>
            <a:ext cx="654651" cy="566928"/>
          </a:xfrm>
          <a:prstGeom prst="hexagon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0" name="Objetivo 2 texto"/>
          <p:cNvSpPr txBox="1"/>
          <p:nvPr/>
        </p:nvSpPr>
        <p:spPr>
          <a:xfrm>
            <a:off x="3941064" y="2991917"/>
            <a:ext cx="566928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94436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PRIORIZAÇÃO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4754880" y="316382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Listar os 50 clientes com a maior probabilidade de churn</a:t>
            </a:r>
            <a:endParaRPr lang="en-US" sz="1500" dirty="0"/>
          </a:p>
        </p:txBody>
      </p:sp>
      <p:sp>
        <p:nvSpPr>
          <p:cNvPr id="13" name="Objetivo 3"/>
          <p:cNvSpPr/>
          <p:nvPr/>
        </p:nvSpPr>
        <p:spPr>
          <a:xfrm rot="5400000">
            <a:off x="3897202" y="3895344"/>
            <a:ext cx="654651" cy="566928"/>
          </a:xfrm>
          <a:prstGeom prst="hexag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Objetivo 3 texto"/>
          <p:cNvSpPr txBox="1"/>
          <p:nvPr/>
        </p:nvSpPr>
        <p:spPr>
          <a:xfrm>
            <a:off x="3941064" y="3952037"/>
            <a:ext cx="566928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tx1"/>
                </a:solidFill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4754880" y="390448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chemeClr val="accent1"/>
                </a:solidFill>
              </a:rPr>
              <a:t>AÇÃO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4754880" y="4123944"/>
            <a:ext cx="3977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chemeClr val="tx1"/>
                </a:solidFill>
              </a:rPr>
              <a:t>Propor uma ação de retenção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SAMPLE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Amostra</a:t>
            </a:r>
            <a:endParaRPr lang="en-US" sz="3000" dirty="0"/>
          </a:p>
        </p:txBody>
      </p:sp>
      <p:sp>
        <p:nvSpPr>
          <p:cNvPr id="4" name="Definição Target"/>
          <p:cNvSpPr/>
          <p:nvPr/>
        </p:nvSpPr>
        <p:spPr>
          <a:xfrm rot="5400000">
            <a:off x="438701" y="1408176"/>
            <a:ext cx="549062" cy="475488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5" name="Definição Target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527048"/>
            <a:ext cx="237744" cy="237744"/>
          </a:xfrm>
          <a:prstGeom prst="rect">
            <a:avLst/>
          </a:prstGeom>
        </p:spPr>
      </p:pic>
      <p:sp>
        <p:nvSpPr>
          <p:cNvPr id="6" name="Target rótulo"/>
          <p:cNvSpPr txBox="1"/>
          <p:nvPr/>
        </p:nvSpPr>
        <p:spPr>
          <a:xfrm>
            <a:off x="1143000" y="138988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Target</a:t>
            </a:r>
            <a:endParaRPr lang="en-US" sz="1400" dirty="0"/>
          </a:p>
        </p:txBody>
      </p:sp>
      <p:sp>
        <p:nvSpPr>
          <p:cNvPr id="7" name="Target texto"/>
          <p:cNvSpPr txBox="1"/>
          <p:nvPr/>
        </p:nvSpPr>
        <p:spPr>
          <a:xfrm>
            <a:off x="1143000" y="16550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Usuário ser ativo nos próximos 28 dias</a:t>
            </a:r>
            <a:endParaRPr lang="en-US" sz="1400" dirty="0"/>
          </a:p>
        </p:txBody>
      </p:sp>
      <p:sp>
        <p:nvSpPr>
          <p:cNvPr id="8" name="Definição Safras"/>
          <p:cNvSpPr/>
          <p:nvPr/>
        </p:nvSpPr>
        <p:spPr>
          <a:xfrm rot="5400000">
            <a:off x="438701" y="2194560"/>
            <a:ext cx="549062" cy="475488"/>
          </a:xfrm>
          <a:prstGeom prst="hexag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9" name="Definição Safras íco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" y="2313432"/>
            <a:ext cx="237744" cy="237744"/>
          </a:xfrm>
          <a:prstGeom prst="rect">
            <a:avLst/>
          </a:prstGeom>
        </p:spPr>
      </p:pic>
      <p:sp>
        <p:nvSpPr>
          <p:cNvPr id="10" name="Safras rótulo"/>
          <p:cNvSpPr txBox="1"/>
          <p:nvPr/>
        </p:nvSpPr>
        <p:spPr>
          <a:xfrm>
            <a:off x="1143000" y="21762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Safras</a:t>
            </a:r>
            <a:endParaRPr lang="en-US" sz="1400" dirty="0"/>
          </a:p>
        </p:txBody>
      </p:sp>
      <p:sp>
        <p:nvSpPr>
          <p:cNvPr id="11" name="Safras texto"/>
          <p:cNvSpPr txBox="1"/>
          <p:nvPr/>
        </p:nvSpPr>
        <p:spPr>
          <a:xfrm>
            <a:off x="1143000" y="244144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Mensais</a:t>
            </a:r>
            <a:endParaRPr lang="en-US" sz="1400" dirty="0"/>
          </a:p>
        </p:txBody>
      </p:sp>
      <p:sp>
        <p:nvSpPr>
          <p:cNvPr id="12" name="Definição Granularidade"/>
          <p:cNvSpPr/>
          <p:nvPr/>
        </p:nvSpPr>
        <p:spPr>
          <a:xfrm rot="5400000">
            <a:off x="438701" y="2980944"/>
            <a:ext cx="549062" cy="475488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Definição Granularidade íco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4360" y="3099816"/>
            <a:ext cx="237744" cy="237744"/>
          </a:xfrm>
          <a:prstGeom prst="rect">
            <a:avLst/>
          </a:prstGeom>
        </p:spPr>
      </p:pic>
      <p:sp>
        <p:nvSpPr>
          <p:cNvPr id="14" name="Granularidade rótulo"/>
          <p:cNvSpPr txBox="1"/>
          <p:nvPr/>
        </p:nvSpPr>
        <p:spPr>
          <a:xfrm>
            <a:off x="1143000" y="296265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Granularidade</a:t>
            </a:r>
            <a:endParaRPr lang="en-US" sz="1400" dirty="0"/>
          </a:p>
        </p:txBody>
      </p:sp>
      <p:sp>
        <p:nvSpPr>
          <p:cNvPr id="15" name="Granularidade texto"/>
          <p:cNvSpPr txBox="1"/>
          <p:nvPr/>
        </p:nvSpPr>
        <p:spPr>
          <a:xfrm>
            <a:off x="1143000" y="32278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Clientes distintos por safra</a:t>
            </a:r>
            <a:endParaRPr lang="en-US" sz="1400" dirty="0"/>
          </a:p>
        </p:txBody>
      </p:sp>
      <p:sp>
        <p:nvSpPr>
          <p:cNvPr id="16" name="Definição Split"/>
          <p:cNvSpPr/>
          <p:nvPr/>
        </p:nvSpPr>
        <p:spPr>
          <a:xfrm rot="5400000">
            <a:off x="438701" y="3767328"/>
            <a:ext cx="549062" cy="475488"/>
          </a:xfrm>
          <a:prstGeom prst="hexag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Definição Split ícon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4360" y="3886200"/>
            <a:ext cx="237744" cy="237744"/>
          </a:xfrm>
          <a:prstGeom prst="rect">
            <a:avLst/>
          </a:prstGeom>
        </p:spPr>
      </p:pic>
      <p:sp>
        <p:nvSpPr>
          <p:cNvPr id="18" name="Split rótulo"/>
          <p:cNvSpPr txBox="1"/>
          <p:nvPr/>
        </p:nvSpPr>
        <p:spPr>
          <a:xfrm>
            <a:off x="1143000" y="374904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Split</a:t>
            </a:r>
            <a:endParaRPr lang="en-US" sz="1400" dirty="0"/>
          </a:p>
        </p:txBody>
      </p:sp>
      <p:sp>
        <p:nvSpPr>
          <p:cNvPr id="19" name="Split texto"/>
          <p:cNvSpPr txBox="1"/>
          <p:nvPr/>
        </p:nvSpPr>
        <p:spPr>
          <a:xfrm>
            <a:off x="1143000" y="401421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Estratificado pelo target</a:t>
            </a:r>
            <a:endParaRPr lang="en-US" sz="1400" dirty="0"/>
          </a:p>
        </p:txBody>
      </p:sp>
      <p:sp>
        <p:nvSpPr>
          <p:cNvPr id="20" name="Card TREINO"/>
          <p:cNvSpPr/>
          <p:nvPr/>
        </p:nvSpPr>
        <p:spPr>
          <a:xfrm>
            <a:off x="4434840" y="1371600"/>
            <a:ext cx="1325880" cy="26974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Text 15"/>
          <p:cNvSpPr txBox="1"/>
          <p:nvPr/>
        </p:nvSpPr>
        <p:spPr>
          <a:xfrm>
            <a:off x="4572000" y="15361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TREINO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0" y="18105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1.723</a:t>
            </a:r>
            <a:endParaRPr lang="en-US" sz="3000" dirty="0"/>
          </a:p>
        </p:txBody>
      </p:sp>
      <p:sp>
        <p:nvSpPr>
          <p:cNvPr id="23" name="Text 17"/>
          <p:cNvSpPr txBox="1"/>
          <p:nvPr/>
        </p:nvSpPr>
        <p:spPr>
          <a:xfrm>
            <a:off x="457200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80% da base</a:t>
            </a:r>
            <a:endParaRPr lang="en-US" sz="1200" dirty="0"/>
          </a:p>
        </p:txBody>
      </p:sp>
      <p:sp>
        <p:nvSpPr>
          <p:cNvPr id="24" name="Text 18"/>
          <p:cNvSpPr txBox="1"/>
          <p:nvPr/>
        </p:nvSpPr>
        <p:spPr>
          <a:xfrm>
            <a:off x="457200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Taxa de resposta</a:t>
            </a:r>
            <a:endParaRPr lang="en-US" sz="11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0" y="33101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27,05%</a:t>
            </a:r>
            <a:endParaRPr lang="en-US" sz="2200" dirty="0"/>
          </a:p>
        </p:txBody>
      </p:sp>
      <p:sp>
        <p:nvSpPr>
          <p:cNvPr id="26" name="Card TESTE"/>
          <p:cNvSpPr/>
          <p:nvPr/>
        </p:nvSpPr>
        <p:spPr>
          <a:xfrm>
            <a:off x="5897880" y="1371600"/>
            <a:ext cx="1325880" cy="26974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1"/>
          <p:cNvSpPr txBox="1"/>
          <p:nvPr/>
        </p:nvSpPr>
        <p:spPr>
          <a:xfrm>
            <a:off x="6035040" y="15361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TESTE</a:t>
            </a:r>
            <a:endParaRPr lang="en-US" sz="1100" dirty="0"/>
          </a:p>
        </p:txBody>
      </p:sp>
      <p:sp>
        <p:nvSpPr>
          <p:cNvPr id="28" name="Text 22"/>
          <p:cNvSpPr txBox="1"/>
          <p:nvPr/>
        </p:nvSpPr>
        <p:spPr>
          <a:xfrm>
            <a:off x="6035040" y="18105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431</a:t>
            </a:r>
            <a:endParaRPr lang="en-US" sz="3000" dirty="0"/>
          </a:p>
        </p:txBody>
      </p:sp>
      <p:sp>
        <p:nvSpPr>
          <p:cNvPr id="29" name="Text 23"/>
          <p:cNvSpPr txBox="1"/>
          <p:nvPr/>
        </p:nvSpPr>
        <p:spPr>
          <a:xfrm>
            <a:off x="603504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20% da base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03504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Taxa de resposta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6035040" y="33101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27,15%</a:t>
            </a:r>
            <a:endParaRPr lang="en-US" sz="2200" dirty="0"/>
          </a:p>
        </p:txBody>
      </p:sp>
      <p:sp>
        <p:nvSpPr>
          <p:cNvPr id="32" name="Card OOT"/>
          <p:cNvSpPr/>
          <p:nvPr/>
        </p:nvSpPr>
        <p:spPr>
          <a:xfrm>
            <a:off x="7360920" y="1371600"/>
            <a:ext cx="1325880" cy="2697480"/>
          </a:xfrm>
          <a:prstGeom prst="roundRect">
            <a:avLst>
              <a:gd name="adj" fmla="val 551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7"/>
          <p:cNvSpPr txBox="1"/>
          <p:nvPr/>
        </p:nvSpPr>
        <p:spPr>
          <a:xfrm>
            <a:off x="7498080" y="1536192"/>
            <a:ext cx="1051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OOT</a:t>
            </a:r>
            <a:endParaRPr lang="en-US" sz="1100" dirty="0"/>
          </a:p>
        </p:txBody>
      </p:sp>
      <p:sp>
        <p:nvSpPr>
          <p:cNvPr id="34" name="Text 28"/>
          <p:cNvSpPr txBox="1"/>
          <p:nvPr/>
        </p:nvSpPr>
        <p:spPr>
          <a:xfrm>
            <a:off x="7498080" y="1810512"/>
            <a:ext cx="1097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tx1"/>
                </a:solidFill>
              </a:rPr>
              <a:t>239</a:t>
            </a:r>
            <a:endParaRPr lang="en-US" sz="3000" dirty="0"/>
          </a:p>
        </p:txBody>
      </p:sp>
      <p:sp>
        <p:nvSpPr>
          <p:cNvPr id="35" name="Text 29"/>
          <p:cNvSpPr txBox="1"/>
          <p:nvPr/>
        </p:nvSpPr>
        <p:spPr>
          <a:xfrm>
            <a:off x="7498080" y="23317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última safra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7498080" y="306324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Taxa de resposta</a:t>
            </a:r>
            <a:endParaRPr lang="en-US" sz="1100" dirty="0"/>
          </a:p>
        </p:txBody>
      </p:sp>
      <p:sp>
        <p:nvSpPr>
          <p:cNvPr id="37" name="Text 31"/>
          <p:cNvSpPr txBox="1"/>
          <p:nvPr/>
        </p:nvSpPr>
        <p:spPr>
          <a:xfrm>
            <a:off x="7498080" y="3310128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56,07%</a:t>
            </a:r>
            <a:endParaRPr lang="en-US" sz="2200" dirty="0"/>
          </a:p>
        </p:txBody>
      </p:sp>
      <p:sp>
        <p:nvSpPr>
          <p:cNvPr id="3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MODIFY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Imputação de variáveis</a:t>
            </a:r>
            <a:endParaRPr lang="en-US" sz="3000" dirty="0"/>
          </a:p>
        </p:txBody>
      </p:sp>
      <p:sp>
        <p:nvSpPr>
          <p:cNvPr id="4" name="Passo 1"/>
          <p:cNvSpPr/>
          <p:nvPr/>
        </p:nvSpPr>
        <p:spPr>
          <a:xfrm rot="5400000">
            <a:off x="433041" y="1472184"/>
            <a:ext cx="633533" cy="548640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Passo 1 texto"/>
          <p:cNvSpPr txBox="1"/>
          <p:nvPr/>
        </p:nvSpPr>
        <p:spPr>
          <a:xfrm>
            <a:off x="475488" y="152704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43560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Diagnóstico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74650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Identificar a proporção de nulos e definir uma estratégia de imputação</a:t>
            </a:r>
            <a:endParaRPr lang="en-US" sz="1400" dirty="0"/>
          </a:p>
        </p:txBody>
      </p:sp>
      <p:sp>
        <p:nvSpPr>
          <p:cNvPr id="8" name="Passo 2"/>
          <p:cNvSpPr/>
          <p:nvPr/>
        </p:nvSpPr>
        <p:spPr>
          <a:xfrm rot="5400000">
            <a:off x="433041" y="2660904"/>
            <a:ext cx="633533" cy="548640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Passo 2 texto"/>
          <p:cNvSpPr txBox="1"/>
          <p:nvPr/>
        </p:nvSpPr>
        <p:spPr>
          <a:xfrm>
            <a:off x="475488" y="2715768"/>
            <a:ext cx="548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80160" y="26243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Tratamento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935224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Imputar as variáveis para não restarem nulos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663440" y="141732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ESTRATÉGIAS</a:t>
            </a:r>
            <a:endParaRPr lang="en-US" sz="1100" dirty="0"/>
          </a:p>
        </p:txBody>
      </p:sp>
      <p:sp>
        <p:nvSpPr>
          <p:cNvPr id="13" name="Estratégia 1"/>
          <p:cNvSpPr/>
          <p:nvPr/>
        </p:nvSpPr>
        <p:spPr>
          <a:xfrm>
            <a:off x="4663440" y="173736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4" name="Estratégia 1 hexágono"/>
          <p:cNvSpPr/>
          <p:nvPr/>
        </p:nvSpPr>
        <p:spPr>
          <a:xfrm rot="5400000">
            <a:off x="4786240" y="2002536"/>
            <a:ext cx="760240" cy="658368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Estratégia 1 hexágono texto"/>
          <p:cNvSpPr txBox="1"/>
          <p:nvPr/>
        </p:nvSpPr>
        <p:spPr>
          <a:xfrm>
            <a:off x="4837176" y="2068373"/>
            <a:ext cx="65836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0</a:t>
            </a:r>
            <a:endParaRPr lang="en-US" sz="2200" dirty="0"/>
          </a:p>
        </p:txBody>
      </p:sp>
      <p:sp>
        <p:nvSpPr>
          <p:cNvPr id="16" name="Text 14"/>
          <p:cNvSpPr txBox="1"/>
          <p:nvPr/>
        </p:nvSpPr>
        <p:spPr>
          <a:xfrm>
            <a:off x="4846320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Imputar 0</a:t>
            </a:r>
            <a:endParaRPr lang="en-US" sz="1400" dirty="0"/>
          </a:p>
        </p:txBody>
      </p:sp>
      <p:sp>
        <p:nvSpPr>
          <p:cNvPr id="17" name="Estratégia 2"/>
          <p:cNvSpPr/>
          <p:nvPr/>
        </p:nvSpPr>
        <p:spPr>
          <a:xfrm>
            <a:off x="6720840" y="1737360"/>
            <a:ext cx="1920240" cy="196596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Estratégia 2 hexágono"/>
          <p:cNvSpPr/>
          <p:nvPr/>
        </p:nvSpPr>
        <p:spPr>
          <a:xfrm rot="5400000">
            <a:off x="6843640" y="2002536"/>
            <a:ext cx="760240" cy="658368"/>
          </a:xfrm>
          <a:prstGeom prst="hexag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Estratégia 2 hexágono texto"/>
          <p:cNvSpPr txBox="1"/>
          <p:nvPr/>
        </p:nvSpPr>
        <p:spPr>
          <a:xfrm>
            <a:off x="6894576" y="2068373"/>
            <a:ext cx="658368" cy="52669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chemeClr val="tx1"/>
                </a:solidFill>
              </a:rPr>
              <a:t>máx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834640"/>
            <a:ext cx="1600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Imputar o máximo observado daquela coluna</a:t>
            </a:r>
            <a:endParaRPr lang="en-US" sz="1400" dirty="0"/>
          </a:p>
        </p:txBody>
      </p:sp>
      <p:sp>
        <p:nvSpPr>
          <p:cNvPr id="21" name="Nota treino"/>
          <p:cNvSpPr/>
          <p:nvPr/>
        </p:nvSpPr>
        <p:spPr>
          <a:xfrm>
            <a:off x="457200" y="4023360"/>
            <a:ext cx="8229600" cy="502920"/>
          </a:xfrm>
          <a:prstGeom prst="roundRect">
            <a:avLst>
              <a:gd name="adj" fmla="val 14545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Ícone cadeado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42232"/>
            <a:ext cx="265176" cy="26517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1051560" y="40233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Valores de imputação calculados somente na base de treino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EXPLORE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Exploração de dados</a:t>
            </a:r>
            <a:endParaRPr lang="en-US" sz="3000" dirty="0"/>
          </a:p>
        </p:txBody>
      </p:sp>
      <p:sp>
        <p:nvSpPr>
          <p:cNvPr id="4" name="Fórmula da taxa"/>
          <p:cNvSpPr/>
          <p:nvPr/>
        </p:nvSpPr>
        <p:spPr>
          <a:xfrm>
            <a:off x="457200" y="1280160"/>
            <a:ext cx="822960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85800" y="137160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TAXA POR VARIÁVEL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645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chemeClr val="tx1"/>
                </a:solidFill>
              </a:rPr>
              <a:t>taxa  =  </a:t>
            </a:r>
            <a:r>
              <a:rPr lang="en-US" sz="1800" b="1" dirty="0">
                <a:solidFill>
                  <a:schemeClr val="tx1"/>
                </a:solidFill>
              </a:rPr>
              <a:t>média com target 1</a:t>
            </a:r>
            <a:r>
              <a:rPr lang="en-US" sz="1800" b="1" dirty="0">
                <a:solidFill>
                  <a:schemeClr val="accent1"/>
                </a:solidFill>
              </a:rPr>
              <a:t>  ÷  </a:t>
            </a:r>
            <a:r>
              <a:rPr lang="en-US" sz="1800" b="1" dirty="0">
                <a:solidFill>
                  <a:schemeClr val="tx1"/>
                </a:solidFill>
              </a:rPr>
              <a:t>média com target 0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23774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Maiores taxas: mais presentes em quem ativa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709160" y="2377440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Taxas zeradas ou indefinidas</a:t>
            </a:r>
            <a:endParaRPr lang="en-US" sz="1200" dirty="0"/>
          </a:p>
        </p:txBody>
      </p:sp>
      <p:pic>
        <p:nvPicPr>
          <p:cNvPr id="10" name="Tabela maiores taxas" descr="img/image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670048"/>
            <a:ext cx="3977640" cy="1854180"/>
          </a:xfrm>
          <a:prstGeom prst="rect">
            <a:avLst/>
          </a:prstGeom>
        </p:spPr>
      </p:pic>
      <p:pic>
        <p:nvPicPr>
          <p:cNvPr id="11" name="Tabela taxas zeradas" descr="img/image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2670048"/>
            <a:ext cx="3977640" cy="162337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EXPLORE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Variáveis quase constantes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21</a:t>
            </a:r>
            <a:r>
              <a:rPr lang="en-US" sz="2600" b="1" dirty="0">
                <a:solidFill>
                  <a:schemeClr val="tx2"/>
                </a:solidFill>
              </a:rPr>
              <a:t> de 51</a:t>
            </a:r>
            <a:endParaRPr lang="en-US" sz="66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8346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features quase constantes</a:t>
            </a:r>
            <a:endParaRPr lang="en-US" sz="1600" dirty="0"/>
          </a:p>
        </p:txBody>
      </p:sp>
      <p:pic>
        <p:nvPicPr>
          <p:cNvPr id="7" name="Tabela quase constantes" descr="img/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1371600"/>
            <a:ext cx="5394960" cy="2882932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EXPLORE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Information Value (IV)</a:t>
            </a:r>
            <a:endParaRPr lang="en-US" sz="3000" dirty="0"/>
          </a:p>
        </p:txBody>
      </p:sp>
      <p:pic>
        <p:nvPicPr>
          <p:cNvPr id="4" name="Gráfico IV" descr="img/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234440"/>
            <a:ext cx="3858710" cy="3429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754880" y="137160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FAIXAS DE IV</a:t>
            </a:r>
            <a:endParaRPr lang="en-US" sz="1100" dirty="0"/>
          </a:p>
        </p:txBody>
      </p:sp>
      <p:sp>
        <p:nvSpPr>
          <p:cNvPr id="6" name="IV Forte"/>
          <p:cNvSpPr/>
          <p:nvPr/>
        </p:nvSpPr>
        <p:spPr>
          <a:xfrm rot="5400000">
            <a:off x="4761743" y="1773936"/>
            <a:ext cx="443473" cy="384048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4"/>
          <p:cNvSpPr txBox="1"/>
          <p:nvPr/>
        </p:nvSpPr>
        <p:spPr>
          <a:xfrm>
            <a:off x="5349240" y="1755648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Forte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626364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IV ≥ 0,3</a:t>
            </a:r>
            <a:endParaRPr lang="en-US" sz="1400" dirty="0"/>
          </a:p>
        </p:txBody>
      </p:sp>
      <p:sp>
        <p:nvSpPr>
          <p:cNvPr id="10" name="IV Médio"/>
          <p:cNvSpPr/>
          <p:nvPr/>
        </p:nvSpPr>
        <p:spPr>
          <a:xfrm rot="5400000">
            <a:off x="4761743" y="2432304"/>
            <a:ext cx="443473" cy="384048"/>
          </a:xfrm>
          <a:prstGeom prst="hexagon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8"/>
          <p:cNvSpPr txBox="1"/>
          <p:nvPr/>
        </p:nvSpPr>
        <p:spPr>
          <a:xfrm>
            <a:off x="5349240" y="2414016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Médio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263640" y="2414016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0,1 ≤ IV &lt; 0,3</a:t>
            </a:r>
            <a:endParaRPr lang="en-US" sz="1400" dirty="0"/>
          </a:p>
        </p:txBody>
      </p:sp>
      <p:sp>
        <p:nvSpPr>
          <p:cNvPr id="14" name="IV Fraco"/>
          <p:cNvSpPr/>
          <p:nvPr/>
        </p:nvSpPr>
        <p:spPr>
          <a:xfrm rot="5400000">
            <a:off x="4761743" y="3090672"/>
            <a:ext cx="443473" cy="384048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2"/>
          <p:cNvSpPr txBox="1"/>
          <p:nvPr/>
        </p:nvSpPr>
        <p:spPr>
          <a:xfrm>
            <a:off x="5349240" y="3072384"/>
            <a:ext cx="9144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tx1"/>
                </a:solidFill>
              </a:rPr>
              <a:t>Fraco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6263640" y="3072384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chemeClr val="tx2"/>
                </a:solidFill>
              </a:rPr>
              <a:t>0,02 ≤ IV &lt; 0,1</a:t>
            </a:r>
            <a:endParaRPr lang="en-US" sz="1400" dirty="0"/>
          </a:p>
        </p:txBody>
      </p:sp>
      <p:sp>
        <p:nvSpPr>
          <p:cNvPr id="17" name="Destaque IV"/>
          <p:cNvSpPr/>
          <p:nvPr/>
        </p:nvSpPr>
        <p:spPr>
          <a:xfrm>
            <a:off x="4754880" y="3794760"/>
            <a:ext cx="39319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Text 15"/>
          <p:cNvSpPr txBox="1"/>
          <p:nvPr/>
        </p:nvSpPr>
        <p:spPr>
          <a:xfrm>
            <a:off x="4937760" y="3794760"/>
            <a:ext cx="3611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qtFrequencia</a:t>
            </a:r>
            <a:r>
              <a:rPr lang="en-US" sz="1400" dirty="0">
                <a:solidFill>
                  <a:schemeClr val="tx1"/>
                </a:solidFill>
              </a:rPr>
              <a:t> lidera com IV ≈ 1,0, seguida de freqVida e saldoDia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EXPLORE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Correlação entre variáveis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3749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12</a:t>
            </a:r>
            <a:r>
              <a:rPr lang="en-US" sz="1400" b="1" dirty="0">
                <a:solidFill>
                  <a:schemeClr val="tx1"/>
                </a:solidFill>
              </a:rPr>
              <a:t>  pares com |correlação de Spearman| ≥ 0,8</a:t>
            </a:r>
            <a:endParaRPr lang="en-US" sz="4000" dirty="0"/>
          </a:p>
        </p:txBody>
      </p:sp>
      <p:pic>
        <p:nvPicPr>
          <p:cNvPr id="5" name="Tabela pares correlacionados" descr="img/imag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920240"/>
            <a:ext cx="3291840" cy="2642135"/>
          </a:xfrm>
          <a:prstGeom prst="rect">
            <a:avLst/>
          </a:prstGeom>
        </p:spPr>
      </p:pic>
      <p:pic>
        <p:nvPicPr>
          <p:cNvPr id="6" name="Mapa de calor Spearman" descr="img/image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1234440"/>
            <a:ext cx="3751204" cy="34290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MODIFY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Seleção de variáveis</a:t>
            </a:r>
            <a:endParaRPr lang="en-US" sz="3000" dirty="0"/>
          </a:p>
        </p:txBody>
      </p:sp>
      <p:sp>
        <p:nvSpPr>
          <p:cNvPr id="4" name="Funil 51"/>
          <p:cNvSpPr/>
          <p:nvPr/>
        </p:nvSpPr>
        <p:spPr>
          <a:xfrm rot="5400000">
            <a:off x="418892" y="1325880"/>
            <a:ext cx="844711" cy="731520"/>
          </a:xfrm>
          <a:prstGeom prst="hexagon">
            <a:avLst/>
          </a:prstGeom>
          <a:solidFill>
            <a:schemeClr val="accent3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Funil 51 texto"/>
          <p:cNvSpPr txBox="1"/>
          <p:nvPr/>
        </p:nvSpPr>
        <p:spPr>
          <a:xfrm>
            <a:off x="475488" y="139903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51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32588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variáveis na base</a:t>
            </a:r>
            <a:endParaRPr lang="en-US" sz="1400" dirty="0"/>
          </a:p>
        </p:txBody>
      </p:sp>
      <p:pic>
        <p:nvPicPr>
          <p:cNvPr id="7" name="Seta funil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07792" y="1554480"/>
            <a:ext cx="274320" cy="274320"/>
          </a:xfrm>
          <a:prstGeom prst="rect">
            <a:avLst/>
          </a:prstGeom>
        </p:spPr>
      </p:pic>
      <p:sp>
        <p:nvSpPr>
          <p:cNvPr id="8" name="Funil 13"/>
          <p:cNvSpPr/>
          <p:nvPr/>
        </p:nvSpPr>
        <p:spPr>
          <a:xfrm rot="5400000">
            <a:off x="3253532" y="1325880"/>
            <a:ext cx="844711" cy="731520"/>
          </a:xfrm>
          <a:prstGeom prst="hexagon">
            <a:avLst/>
          </a:prstGeom>
          <a:solidFill>
            <a:schemeClr val="accent4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Funil 13 texto"/>
          <p:cNvSpPr txBox="1"/>
          <p:nvPr/>
        </p:nvSpPr>
        <p:spPr>
          <a:xfrm>
            <a:off x="3310128" y="139903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tx1"/>
                </a:solidFill>
              </a:rPr>
              <a:t>13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16052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com IV forte ou médio</a:t>
            </a:r>
            <a:endParaRPr lang="en-US" sz="1400" dirty="0"/>
          </a:p>
        </p:txBody>
      </p:sp>
      <p:pic>
        <p:nvPicPr>
          <p:cNvPr id="11" name="Seta funil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432" y="1554480"/>
            <a:ext cx="274320" cy="274320"/>
          </a:xfrm>
          <a:prstGeom prst="rect">
            <a:avLst/>
          </a:prstGeom>
        </p:spPr>
      </p:pic>
      <p:sp>
        <p:nvSpPr>
          <p:cNvPr id="12" name="Funil 11"/>
          <p:cNvSpPr/>
          <p:nvPr/>
        </p:nvSpPr>
        <p:spPr>
          <a:xfrm rot="5400000">
            <a:off x="6088172" y="1325880"/>
            <a:ext cx="844711" cy="731520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Funil 11 texto"/>
          <p:cNvSpPr txBox="1"/>
          <p:nvPr/>
        </p:nvSpPr>
        <p:spPr>
          <a:xfrm>
            <a:off x="6144768" y="1399032"/>
            <a:ext cx="73152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chemeClr val="bg1"/>
                </a:solidFill>
              </a:rPr>
              <a:t>11</a:t>
            </a:r>
            <a:endParaRPr lang="en-US" sz="2200" dirty="0"/>
          </a:p>
        </p:txBody>
      </p:sp>
      <p:sp>
        <p:nvSpPr>
          <p:cNvPr id="14" name="Text 10"/>
          <p:cNvSpPr txBox="1"/>
          <p:nvPr/>
        </p:nvSpPr>
        <p:spPr>
          <a:xfrm>
            <a:off x="6995160" y="1417320"/>
            <a:ext cx="1600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após o filtro de correlação</a:t>
            </a:r>
            <a:endParaRPr lang="en-US" sz="1400" dirty="0"/>
          </a:p>
        </p:txBody>
      </p:sp>
      <p:sp>
        <p:nvSpPr>
          <p:cNvPr id="15" name="Critério Information Value"/>
          <p:cNvSpPr/>
          <p:nvPr/>
        </p:nvSpPr>
        <p:spPr>
          <a:xfrm>
            <a:off x="457200" y="2331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Critério Information Value"/>
          <p:cNvSpPr/>
          <p:nvPr/>
        </p:nvSpPr>
        <p:spPr>
          <a:xfrm rot="5400000">
            <a:off x="615267" y="2523744"/>
            <a:ext cx="506827" cy="438912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7" name="Critério Information Value íco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952" y="2633472"/>
            <a:ext cx="219456" cy="21945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23444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Information Value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1234440" y="26974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Selecionadas as variáveis com IV forte e médio</a:t>
            </a:r>
            <a:endParaRPr lang="en-US" sz="1300" dirty="0"/>
          </a:p>
        </p:txBody>
      </p:sp>
      <p:sp>
        <p:nvSpPr>
          <p:cNvPr id="20" name="Critério Correlação de Spearman"/>
          <p:cNvSpPr/>
          <p:nvPr/>
        </p:nvSpPr>
        <p:spPr>
          <a:xfrm>
            <a:off x="4663440" y="2331720"/>
            <a:ext cx="402336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1" name="Critério Correlação de Spearman"/>
          <p:cNvSpPr/>
          <p:nvPr/>
        </p:nvSpPr>
        <p:spPr>
          <a:xfrm rot="5400000">
            <a:off x="4821507" y="2523744"/>
            <a:ext cx="506827" cy="438912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2" name="Critério Correlação de Spearman íco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65192" y="2633472"/>
            <a:ext cx="219456" cy="21945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5440680" y="24231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Correlação de Spearman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5440680" y="2697480"/>
            <a:ext cx="3154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chemeClr val="tx2"/>
                </a:solidFill>
              </a:rPr>
              <a:t>Removidas as acima de |0,8|, mantida a de maior IV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457200" y="331012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tx2"/>
                </a:solidFill>
              </a:rPr>
              <a:t>VARIÁVEIS SELECIONADAS (11)</a:t>
            </a:r>
            <a:endParaRPr lang="en-US" sz="1100" dirty="0"/>
          </a:p>
        </p:txBody>
      </p:sp>
      <p:sp>
        <p:nvSpPr>
          <p:cNvPr id="26" name="Chip qtFrequencia"/>
          <p:cNvSpPr/>
          <p:nvPr/>
        </p:nvSpPr>
        <p:spPr>
          <a:xfrm>
            <a:off x="457200" y="361188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1"/>
          <p:cNvSpPr txBox="1"/>
          <p:nvPr/>
        </p:nvSpPr>
        <p:spPr>
          <a:xfrm>
            <a:off x="457200" y="3611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qtFrequencia</a:t>
            </a:r>
            <a:endParaRPr lang="en-US" sz="1200" dirty="0"/>
          </a:p>
        </p:txBody>
      </p:sp>
      <p:sp>
        <p:nvSpPr>
          <p:cNvPr id="28" name="Chip freqVida"/>
          <p:cNvSpPr/>
          <p:nvPr/>
        </p:nvSpPr>
        <p:spPr>
          <a:xfrm>
            <a:off x="2532888" y="361188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Text 23"/>
          <p:cNvSpPr txBox="1"/>
          <p:nvPr/>
        </p:nvSpPr>
        <p:spPr>
          <a:xfrm>
            <a:off x="2532888" y="3611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freqVida</a:t>
            </a:r>
            <a:endParaRPr lang="en-US" sz="1200" dirty="0"/>
          </a:p>
        </p:txBody>
      </p:sp>
      <p:sp>
        <p:nvSpPr>
          <p:cNvPr id="30" name="Chip saldoDia"/>
          <p:cNvSpPr/>
          <p:nvPr/>
        </p:nvSpPr>
        <p:spPr>
          <a:xfrm>
            <a:off x="4608576" y="361188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1" name="Text 25"/>
          <p:cNvSpPr txBox="1"/>
          <p:nvPr/>
        </p:nvSpPr>
        <p:spPr>
          <a:xfrm>
            <a:off x="4608576" y="3611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saldoDia</a:t>
            </a:r>
            <a:endParaRPr lang="en-US" sz="1200" dirty="0"/>
          </a:p>
        </p:txBody>
      </p:sp>
      <p:sp>
        <p:nvSpPr>
          <p:cNvPr id="32" name="Chip QtdeTransacoes"/>
          <p:cNvSpPr/>
          <p:nvPr/>
        </p:nvSpPr>
        <p:spPr>
          <a:xfrm>
            <a:off x="6684264" y="361188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Text 27"/>
          <p:cNvSpPr txBox="1"/>
          <p:nvPr/>
        </p:nvSpPr>
        <p:spPr>
          <a:xfrm>
            <a:off x="6684264" y="36118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QtdeTransacoes</a:t>
            </a:r>
            <a:endParaRPr lang="en-US" sz="1200" dirty="0"/>
          </a:p>
        </p:txBody>
      </p:sp>
      <p:sp>
        <p:nvSpPr>
          <p:cNvPr id="34" name="Chip recencia"/>
          <p:cNvSpPr/>
          <p:nvPr/>
        </p:nvSpPr>
        <p:spPr>
          <a:xfrm>
            <a:off x="457200" y="397764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5" name="Text 29"/>
          <p:cNvSpPr txBox="1"/>
          <p:nvPr/>
        </p:nvSpPr>
        <p:spPr>
          <a:xfrm>
            <a:off x="457200" y="3977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recencia</a:t>
            </a:r>
            <a:endParaRPr lang="en-US" sz="1200" dirty="0"/>
          </a:p>
        </p:txBody>
      </p:sp>
      <p:sp>
        <p:nvSpPr>
          <p:cNvPr id="36" name="Chip qtdeProdutoDistintos"/>
          <p:cNvSpPr/>
          <p:nvPr/>
        </p:nvSpPr>
        <p:spPr>
          <a:xfrm>
            <a:off x="2532888" y="397764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7" name="Text 31"/>
          <p:cNvSpPr txBox="1"/>
          <p:nvPr/>
        </p:nvSpPr>
        <p:spPr>
          <a:xfrm>
            <a:off x="2532888" y="3977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qtdeProdutoDistintos</a:t>
            </a:r>
            <a:endParaRPr lang="en-US" sz="1200" dirty="0"/>
          </a:p>
        </p:txBody>
      </p:sp>
      <p:sp>
        <p:nvSpPr>
          <p:cNvPr id="38" name="Chip qtPontosPositivos"/>
          <p:cNvSpPr/>
          <p:nvPr/>
        </p:nvSpPr>
        <p:spPr>
          <a:xfrm>
            <a:off x="4608576" y="397764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3"/>
          <p:cNvSpPr txBox="1"/>
          <p:nvPr/>
        </p:nvSpPr>
        <p:spPr>
          <a:xfrm>
            <a:off x="4608576" y="3977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qtPontosPositivos</a:t>
            </a:r>
            <a:endParaRPr lang="en-US" sz="1200" dirty="0"/>
          </a:p>
        </p:txBody>
      </p:sp>
      <p:sp>
        <p:nvSpPr>
          <p:cNvPr id="40" name="Chip flStreak"/>
          <p:cNvSpPr/>
          <p:nvPr/>
        </p:nvSpPr>
        <p:spPr>
          <a:xfrm>
            <a:off x="6684264" y="397764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1" name="Text 35"/>
          <p:cNvSpPr txBox="1"/>
          <p:nvPr/>
        </p:nvSpPr>
        <p:spPr>
          <a:xfrm>
            <a:off x="6684264" y="397764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flStreak</a:t>
            </a:r>
            <a:endParaRPr lang="en-US" sz="1200" dirty="0"/>
          </a:p>
        </p:txBody>
      </p:sp>
      <p:sp>
        <p:nvSpPr>
          <p:cNvPr id="42" name="Chip diasPrimeiraTransacao"/>
          <p:cNvSpPr/>
          <p:nvPr/>
        </p:nvSpPr>
        <p:spPr>
          <a:xfrm>
            <a:off x="457200" y="434340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3" name="Text 37"/>
          <p:cNvSpPr txBox="1"/>
          <p:nvPr/>
        </p:nvSpPr>
        <p:spPr>
          <a:xfrm>
            <a:off x="457200" y="4343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diasPrimeiraTransacao</a:t>
            </a:r>
            <a:endParaRPr lang="en-US" sz="1200" dirty="0"/>
          </a:p>
        </p:txBody>
      </p:sp>
      <p:sp>
        <p:nvSpPr>
          <p:cNvPr id="44" name="Chip pctTransacaoListapresenca"/>
          <p:cNvSpPr/>
          <p:nvPr/>
        </p:nvSpPr>
        <p:spPr>
          <a:xfrm>
            <a:off x="2532888" y="434340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5" name="Text 39"/>
          <p:cNvSpPr txBox="1"/>
          <p:nvPr/>
        </p:nvSpPr>
        <p:spPr>
          <a:xfrm>
            <a:off x="2532888" y="4343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pctTransacaoListapresenca</a:t>
            </a:r>
            <a:endParaRPr lang="en-US" sz="1200" dirty="0"/>
          </a:p>
        </p:txBody>
      </p:sp>
      <p:sp>
        <p:nvSpPr>
          <p:cNvPr id="46" name="Chip pctTransacaoChatMessage"/>
          <p:cNvSpPr/>
          <p:nvPr/>
        </p:nvSpPr>
        <p:spPr>
          <a:xfrm>
            <a:off x="4608576" y="4343400"/>
            <a:ext cx="1965960" cy="292608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7" name="Text 41"/>
          <p:cNvSpPr txBox="1"/>
          <p:nvPr/>
        </p:nvSpPr>
        <p:spPr>
          <a:xfrm>
            <a:off x="4608576" y="43434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tx1"/>
                </a:solidFill>
              </a:rPr>
              <a:t>pctTransacaoChatMessage</a:t>
            </a:r>
            <a:endParaRPr lang="en-US" sz="1200" dirty="0"/>
          </a:p>
        </p:txBody>
      </p:sp>
      <p:sp>
        <p:nvSpPr>
          <p:cNvPr id="48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MODEL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Algoritmos e grid de hiperparâmetros</a:t>
            </a:r>
            <a:endParaRPr lang="en-US" sz="3000" dirty="0"/>
          </a:p>
        </p:txBody>
      </p:sp>
      <p:sp>
        <p:nvSpPr>
          <p:cNvPr id="4" name="Chip GridSearchCV"/>
          <p:cNvSpPr/>
          <p:nvPr/>
        </p:nvSpPr>
        <p:spPr>
          <a:xfrm>
            <a:off x="457200" y="1234440"/>
            <a:ext cx="1563624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457200" y="123444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GridSearchCV</a:t>
            </a:r>
            <a:endParaRPr lang="en-US" sz="1100" dirty="0"/>
          </a:p>
        </p:txBody>
      </p:sp>
      <p:sp>
        <p:nvSpPr>
          <p:cNvPr id="6" name="Chip Métrica: ROC AUC"/>
          <p:cNvSpPr/>
          <p:nvPr/>
        </p:nvSpPr>
        <p:spPr>
          <a:xfrm>
            <a:off x="2132838" y="1234440"/>
            <a:ext cx="1563624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2132838" y="123444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Métrica: ROC AUC</a:t>
            </a:r>
            <a:endParaRPr lang="en-US" sz="1100" dirty="0"/>
          </a:p>
        </p:txBody>
      </p:sp>
      <p:sp>
        <p:nvSpPr>
          <p:cNvPr id="8" name="Chip 5 folds estratificados"/>
          <p:cNvSpPr/>
          <p:nvPr/>
        </p:nvSpPr>
        <p:spPr>
          <a:xfrm>
            <a:off x="3808476" y="1234440"/>
            <a:ext cx="1563624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9" name="Text 7"/>
          <p:cNvSpPr txBox="1"/>
          <p:nvPr/>
        </p:nvSpPr>
        <p:spPr>
          <a:xfrm>
            <a:off x="3808476" y="123444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5 folds estratificados</a:t>
            </a:r>
            <a:endParaRPr lang="en-US" sz="1100" dirty="0"/>
          </a:p>
        </p:txBody>
      </p:sp>
      <p:sp>
        <p:nvSpPr>
          <p:cNvPr id="10" name="Chip refit = True"/>
          <p:cNvSpPr/>
          <p:nvPr/>
        </p:nvSpPr>
        <p:spPr>
          <a:xfrm>
            <a:off x="5484114" y="1234440"/>
            <a:ext cx="1563624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 txBox="1"/>
          <p:nvPr/>
        </p:nvSpPr>
        <p:spPr>
          <a:xfrm>
            <a:off x="5484114" y="123444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refit = True</a:t>
            </a:r>
            <a:endParaRPr lang="en-US" sz="1100" dirty="0"/>
          </a:p>
        </p:txBody>
      </p:sp>
      <p:sp>
        <p:nvSpPr>
          <p:cNvPr id="12" name="Chip 114 combinações"/>
          <p:cNvSpPr/>
          <p:nvPr/>
        </p:nvSpPr>
        <p:spPr>
          <a:xfrm>
            <a:off x="7159752" y="1234440"/>
            <a:ext cx="1563624" cy="29260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 txBox="1"/>
          <p:nvPr/>
        </p:nvSpPr>
        <p:spPr>
          <a:xfrm>
            <a:off x="7159752" y="1234440"/>
            <a:ext cx="15636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chemeClr val="bg1"/>
                </a:solidFill>
              </a:rPr>
              <a:t>114 combinações</a:t>
            </a:r>
            <a:endParaRPr lang="en-US" sz="1100" dirty="0"/>
          </a:p>
        </p:txBody>
      </p:sp>
      <p:sp>
        <p:nvSpPr>
          <p:cNvPr id="14" name="Card Random Forest"/>
          <p:cNvSpPr/>
          <p:nvPr/>
        </p:nvSpPr>
        <p:spPr>
          <a:xfrm>
            <a:off x="457200" y="1691640"/>
            <a:ext cx="1956816" cy="2971800"/>
          </a:xfrm>
          <a:prstGeom prst="roundRect">
            <a:avLst>
              <a:gd name="adj" fmla="val 37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5" name="Text 13"/>
          <p:cNvSpPr txBox="1"/>
          <p:nvPr/>
        </p:nvSpPr>
        <p:spPr>
          <a:xfrm>
            <a:off x="594360" y="18013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Random Forest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209397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36 combinações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242316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min_samples_leaf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" y="25968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· 100 · 200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282549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max_features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29992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sqrt · 0.3 · 0.5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594360" y="32278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max_depth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94360" y="34015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None · 12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36301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max_samples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594360" y="38039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0.7 · None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594360" y="406908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Fixos: </a:t>
            </a:r>
            <a:r>
              <a:rPr lang="en-US" sz="1000" dirty="0">
                <a:solidFill>
                  <a:schemeClr val="tx2"/>
                </a:solidFill>
              </a:rPr>
              <a:t>n_estimators 500</a:t>
            </a:r>
            <a:endParaRPr lang="en-US" sz="1000" dirty="0"/>
          </a:p>
        </p:txBody>
      </p:sp>
      <p:sp>
        <p:nvSpPr>
          <p:cNvPr id="26" name="Card XGBoost"/>
          <p:cNvSpPr/>
          <p:nvPr/>
        </p:nvSpPr>
        <p:spPr>
          <a:xfrm>
            <a:off x="2551176" y="1691640"/>
            <a:ext cx="1956816" cy="2971800"/>
          </a:xfrm>
          <a:prstGeom prst="roundRect">
            <a:avLst>
              <a:gd name="adj" fmla="val 37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 txBox="1"/>
          <p:nvPr/>
        </p:nvSpPr>
        <p:spPr>
          <a:xfrm>
            <a:off x="2688336" y="18013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XGBoost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2688336" y="209397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36 combinações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688336" y="242316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learning_rate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2688336" y="25968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0.03 · 0.1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2688336" y="282549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max_depth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2688336" y="29992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3 · 5 · 7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2688336" y="32278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min_child_weight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2688336" y="34015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· 10 · 30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2688336" y="36301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reg_lambda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2688336" y="38039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· 10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2688336" y="406908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Fixos: </a:t>
            </a:r>
            <a:r>
              <a:rPr lang="en-US" sz="1000" dirty="0">
                <a:solidFill>
                  <a:schemeClr val="tx2"/>
                </a:solidFill>
              </a:rPr>
              <a:t>n_estimators 300 · subsample 0.8 · colsample_bytree 0.8 · hist</a:t>
            </a:r>
            <a:endParaRPr lang="en-US" sz="1000" dirty="0"/>
          </a:p>
        </p:txBody>
      </p:sp>
      <p:sp>
        <p:nvSpPr>
          <p:cNvPr id="38" name="Card CatBoost"/>
          <p:cNvSpPr/>
          <p:nvPr/>
        </p:nvSpPr>
        <p:spPr>
          <a:xfrm>
            <a:off x="4645152" y="1691640"/>
            <a:ext cx="1956816" cy="2971800"/>
          </a:xfrm>
          <a:prstGeom prst="roundRect">
            <a:avLst>
              <a:gd name="adj" fmla="val 37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9" name="Text 37"/>
          <p:cNvSpPr txBox="1"/>
          <p:nvPr/>
        </p:nvSpPr>
        <p:spPr>
          <a:xfrm>
            <a:off x="4782312" y="18013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CatBoost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4782312" y="209397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18 combinações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4782312" y="242316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learning_rate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4782312" y="25968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0.03 · 0.1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782312" y="282549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depth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782312" y="29992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4 · 6 · 8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4782312" y="32278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l2_leaf_reg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4782312" y="34015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 · 3 · 10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4782312" y="406908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Fixos: </a:t>
            </a:r>
            <a:r>
              <a:rPr lang="en-US" sz="1000" dirty="0">
                <a:solidFill>
                  <a:schemeClr val="tx2"/>
                </a:solidFill>
              </a:rPr>
              <a:t>iterations 500 · eval_metric AUC</a:t>
            </a:r>
            <a:endParaRPr lang="en-US" sz="1000" dirty="0"/>
          </a:p>
        </p:txBody>
      </p:sp>
      <p:sp>
        <p:nvSpPr>
          <p:cNvPr id="48" name="Card LightGBM"/>
          <p:cNvSpPr/>
          <p:nvPr/>
        </p:nvSpPr>
        <p:spPr>
          <a:xfrm>
            <a:off x="6739128" y="1691640"/>
            <a:ext cx="1956816" cy="2971800"/>
          </a:xfrm>
          <a:prstGeom prst="roundRect">
            <a:avLst>
              <a:gd name="adj" fmla="val 3738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9" name="Text 47"/>
          <p:cNvSpPr txBox="1"/>
          <p:nvPr/>
        </p:nvSpPr>
        <p:spPr>
          <a:xfrm>
            <a:off x="6876288" y="1801368"/>
            <a:ext cx="16824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chemeClr val="tx1"/>
                </a:solidFill>
              </a:rPr>
              <a:t>LightGBM</a:t>
            </a:r>
            <a:endParaRPr lang="en-US" sz="1500" dirty="0"/>
          </a:p>
        </p:txBody>
      </p:sp>
      <p:sp>
        <p:nvSpPr>
          <p:cNvPr id="50" name="Text 48"/>
          <p:cNvSpPr txBox="1"/>
          <p:nvPr/>
        </p:nvSpPr>
        <p:spPr>
          <a:xfrm>
            <a:off x="6876288" y="209397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24 combinações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6876288" y="2423160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learning_rate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6876288" y="2596896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0.03 · 0.1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6876288" y="2825496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num_leaves</a:t>
            </a:r>
            <a:endParaRPr lang="en-US" sz="1000" dirty="0"/>
          </a:p>
        </p:txBody>
      </p:sp>
      <p:sp>
        <p:nvSpPr>
          <p:cNvPr id="54" name="Text 52"/>
          <p:cNvSpPr txBox="1"/>
          <p:nvPr/>
        </p:nvSpPr>
        <p:spPr>
          <a:xfrm>
            <a:off x="6876288" y="299923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 · 31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876288" y="3227832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min_child_samples</a:t>
            </a:r>
            <a:endParaRPr lang="en-US" sz="1000" dirty="0"/>
          </a:p>
        </p:txBody>
      </p:sp>
      <p:sp>
        <p:nvSpPr>
          <p:cNvPr id="56" name="Text 54"/>
          <p:cNvSpPr txBox="1"/>
          <p:nvPr/>
        </p:nvSpPr>
        <p:spPr>
          <a:xfrm>
            <a:off x="6876288" y="3401568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20 · 100 · 300</a:t>
            </a:r>
            <a:endParaRPr lang="en-US" sz="1200" dirty="0"/>
          </a:p>
        </p:txBody>
      </p:sp>
      <p:sp>
        <p:nvSpPr>
          <p:cNvPr id="57" name="Text 55"/>
          <p:cNvSpPr txBox="1"/>
          <p:nvPr/>
        </p:nvSpPr>
        <p:spPr>
          <a:xfrm>
            <a:off x="6876288" y="3630168"/>
            <a:ext cx="16824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reg_lambda</a:t>
            </a:r>
            <a:endParaRPr lang="en-US" sz="1000" dirty="0"/>
          </a:p>
        </p:txBody>
      </p:sp>
      <p:sp>
        <p:nvSpPr>
          <p:cNvPr id="58" name="Text 56"/>
          <p:cNvSpPr txBox="1"/>
          <p:nvPr/>
        </p:nvSpPr>
        <p:spPr>
          <a:xfrm>
            <a:off x="6876288" y="3803904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0 · 10</a:t>
            </a:r>
            <a:endParaRPr lang="en-US" sz="1200" dirty="0"/>
          </a:p>
        </p:txBody>
      </p:sp>
      <p:sp>
        <p:nvSpPr>
          <p:cNvPr id="59" name="Text 57"/>
          <p:cNvSpPr txBox="1"/>
          <p:nvPr/>
        </p:nvSpPr>
        <p:spPr>
          <a:xfrm>
            <a:off x="6876288" y="4069080"/>
            <a:ext cx="168249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chemeClr val="tx2"/>
                </a:solidFill>
              </a:rPr>
              <a:t>Fixos: </a:t>
            </a:r>
            <a:r>
              <a:rPr lang="en-US" sz="1000" dirty="0">
                <a:solidFill>
                  <a:schemeClr val="tx2"/>
                </a:solidFill>
              </a:rPr>
              <a:t>n_estimators 300 · subsample 0.8 · colsample_bytree 0.8</a:t>
            </a:r>
            <a:endParaRPr lang="en-US" sz="1000" dirty="0"/>
          </a:p>
        </p:txBody>
      </p:sp>
      <p:sp>
        <p:nvSpPr>
          <p:cNvPr id="6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ASSESS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Comparação dos algoritmos</a:t>
            </a:r>
            <a:endParaRPr lang="en-US" sz="3000" dirty="0"/>
          </a:p>
        </p:txBody>
      </p:sp>
      <p:graphicFrame>
        <p:nvGraphicFramePr>
          <p:cNvPr id="12" name="Tabela comparação"/>
          <p:cNvGraphicFramePr>
            <a:graphicFrameLocks noGrp="1"/>
          </p:cNvGraphicFramePr>
          <p:nvPr/>
        </p:nvGraphicFramePr>
        <p:xfrm>
          <a:off x="457200" y="1280160"/>
          <a:ext cx="8229600" cy="182880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4A5670"/>
                          </a:solidFill>
                        </a:rPr>
                        <a:t>Algoritmo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5670"/>
                          </a:solidFill>
                        </a:rPr>
                        <a:t>AUC treino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5670"/>
                          </a:solidFill>
                        </a:rPr>
                        <a:t>AUC teste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5670"/>
                          </a:solidFill>
                        </a:rPr>
                        <a:t>AUC OOT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5670"/>
                          </a:solidFill>
                        </a:rPr>
                        <a:t>AUC OOT (refit)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4A5670"/>
                          </a:solidFill>
                        </a:rPr>
                        <a:t>Gap treino − teste</a:t>
                      </a:r>
                      <a:endParaRPr lang="en-US" sz="11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B"/>
                          </a:solidFill>
                        </a:rPr>
                        <a:t>Random Forest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0,877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0,788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</a:rPr>
                        <a:t>0,857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</a:rPr>
                        <a:t>0,852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0,089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B"/>
                          </a:solidFill>
                        </a:rPr>
                        <a:t>LightGBM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0,826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0,788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0,849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0,843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</a:rPr>
                        <a:t>0,037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B"/>
                          </a:solidFill>
                        </a:rPr>
                        <a:t>XGBoost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0,839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0,790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0,854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0,841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0,049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B4B"/>
                          </a:solidFill>
                        </a:rPr>
                        <a:t>CatBoost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0,878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2A78D6"/>
                          </a:solidFill>
                        </a:rPr>
                        <a:t>0,794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F5F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0,844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0,830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B4B"/>
                          </a:solidFill>
                        </a:rPr>
                        <a:t>0,084</a:t>
                      </a:r>
                      <a:endParaRPr lang="en-US" sz="1300" dirty="0"/>
                    </a:p>
                  </a:txBody>
                  <a:tcPr marL="109728" marR="109728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1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Destaque Random Forest"/>
          <p:cNvSpPr/>
          <p:nvPr/>
        </p:nvSpPr>
        <p:spPr>
          <a:xfrm>
            <a:off x="457200" y="352044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Destaque Random Forest"/>
          <p:cNvSpPr/>
          <p:nvPr/>
        </p:nvSpPr>
        <p:spPr>
          <a:xfrm rot="5400000">
            <a:off x="598393" y="3630168"/>
            <a:ext cx="485709" cy="420624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8" name="Destaque Random Forest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" y="3735324"/>
            <a:ext cx="210312" cy="210312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188720" y="3630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Random Forest</a:t>
            </a:r>
            <a:endParaRPr lang="en-US" sz="1400" dirty="0"/>
          </a:p>
        </p:txBody>
      </p:sp>
      <p:sp>
        <p:nvSpPr>
          <p:cNvPr id="10" name="Text 6"/>
          <p:cNvSpPr txBox="1"/>
          <p:nvPr/>
        </p:nvSpPr>
        <p:spPr>
          <a:xfrm>
            <a:off x="1188720" y="39136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Melhor AUC no OOT: 0,857, ou 0,852 com refit</a:t>
            </a:r>
            <a:endParaRPr lang="en-US" sz="1200" dirty="0"/>
          </a:p>
        </p:txBody>
      </p:sp>
      <p:sp>
        <p:nvSpPr>
          <p:cNvPr id="11" name="Destaque LightGBM"/>
          <p:cNvSpPr/>
          <p:nvPr/>
        </p:nvSpPr>
        <p:spPr>
          <a:xfrm>
            <a:off x="3268980" y="352044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4" name="Destaque LightGBM"/>
          <p:cNvSpPr/>
          <p:nvPr/>
        </p:nvSpPr>
        <p:spPr>
          <a:xfrm rot="5400000">
            <a:off x="3410173" y="3630168"/>
            <a:ext cx="485709" cy="420624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3" name="Destaque LightGBM íco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7872" y="3735324"/>
            <a:ext cx="210312" cy="210312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000500" y="3630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LightGBM</a:t>
            </a:r>
            <a:endParaRPr lang="en-US" sz="1400" dirty="0"/>
          </a:p>
        </p:txBody>
      </p:sp>
      <p:sp>
        <p:nvSpPr>
          <p:cNvPr id="15" name="Text 10"/>
          <p:cNvSpPr txBox="1"/>
          <p:nvPr/>
        </p:nvSpPr>
        <p:spPr>
          <a:xfrm>
            <a:off x="4000500" y="39136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Menor gap treino − teste (0,037): o menos sobreajustado</a:t>
            </a:r>
            <a:endParaRPr lang="en-US" sz="1200" dirty="0"/>
          </a:p>
        </p:txBody>
      </p:sp>
      <p:sp>
        <p:nvSpPr>
          <p:cNvPr id="16" name="Destaque CatBoost"/>
          <p:cNvSpPr/>
          <p:nvPr/>
        </p:nvSpPr>
        <p:spPr>
          <a:xfrm>
            <a:off x="6080760" y="3520440"/>
            <a:ext cx="2606040" cy="109728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7" name="Destaque CatBoost"/>
          <p:cNvSpPr/>
          <p:nvPr/>
        </p:nvSpPr>
        <p:spPr>
          <a:xfrm rot="5400000">
            <a:off x="6221953" y="3630168"/>
            <a:ext cx="485709" cy="420624"/>
          </a:xfrm>
          <a:prstGeom prst="hexag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8" name="Destaque CatBoost íco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9652" y="3735324"/>
            <a:ext cx="210312" cy="210312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6812280" y="363016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CatBoost</a:t>
            </a:r>
            <a:endParaRPr lang="en-US" sz="1400" dirty="0"/>
          </a:p>
        </p:txBody>
      </p:sp>
      <p:sp>
        <p:nvSpPr>
          <p:cNvPr id="20" name="Text 14"/>
          <p:cNvSpPr txBox="1"/>
          <p:nvPr/>
        </p:nvSpPr>
        <p:spPr>
          <a:xfrm>
            <a:off x="6812280" y="3913632"/>
            <a:ext cx="1783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Maior AUC no teste (0,794), mas a menor no OOT com refit (0,830)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30458-BD1C-EF4F-3BDA-30B7F9C437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C91B040A-2E41-9514-EC8C-8298D5BBB78D}"/>
              </a:ext>
            </a:extLst>
          </p:cNvPr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ASSESS</a:t>
            </a:r>
            <a:endParaRPr lang="en-US" sz="1100" dirty="0"/>
          </a:p>
        </p:txBody>
      </p:sp>
      <p:sp>
        <p:nvSpPr>
          <p:cNvPr id="3" name="Text 0">
            <a:extLst>
              <a:ext uri="{FF2B5EF4-FFF2-40B4-BE49-F238E27FC236}">
                <a16:creationId xmlns:a16="http://schemas.microsoft.com/office/drawing/2014/main" id="{C66E6245-215E-3703-C3F9-5072D78BB5D8}"/>
              </a:ext>
            </a:extLst>
          </p:cNvPr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4465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Variáveis mais importantes</a:t>
            </a:r>
            <a:endParaRPr lang="en-US" sz="3000" dirty="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5242C12F-AD8F-C9A2-BCE3-D7F2AFE9EA3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E5C28CF6-BA0C-EF50-916C-3DE39A6859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850" y="1723159"/>
            <a:ext cx="1371454" cy="2437447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12C35E8-0794-B38D-B536-F2E4BA43363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14237" y="620669"/>
            <a:ext cx="3754176" cy="2031225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AB4DD024-AB81-E1B4-E0A4-16844B8C3C8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551" y="2865857"/>
            <a:ext cx="3592755" cy="1943887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7B6036AF-942C-B516-9376-08BCF4676F7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921970"/>
            <a:ext cx="3592755" cy="1943887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66A46FF3-5039-8A42-EBBF-E8AA980E297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5578" y="2763103"/>
            <a:ext cx="3972578" cy="2149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587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470916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ASSESS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4465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Variáveis mais importantes</a:t>
            </a:r>
            <a:endParaRPr lang="en-US" sz="3000" dirty="0"/>
          </a:p>
        </p:txBody>
      </p:sp>
      <p:sp>
        <p:nvSpPr>
          <p:cNvPr id="5" name="Modelo escolhido"/>
          <p:cNvSpPr/>
          <p:nvPr/>
        </p:nvSpPr>
        <p:spPr>
          <a:xfrm>
            <a:off x="6172199" y="2914650"/>
            <a:ext cx="2880360" cy="124587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6" name="Modelo escolhido"/>
          <p:cNvSpPr/>
          <p:nvPr/>
        </p:nvSpPr>
        <p:spPr>
          <a:xfrm rot="5400000">
            <a:off x="6319707" y="3161538"/>
            <a:ext cx="527945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7" name="Modelo escolhido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79" y="3275838"/>
            <a:ext cx="228600" cy="22860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6926580" y="3103626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≈ 19%</a:t>
            </a:r>
            <a:endParaRPr lang="en-US" sz="4000" dirty="0"/>
          </a:p>
        </p:txBody>
      </p:sp>
      <p:sp>
        <p:nvSpPr>
          <p:cNvPr id="11" name="Text 7"/>
          <p:cNvSpPr txBox="1"/>
          <p:nvPr/>
        </p:nvSpPr>
        <p:spPr>
          <a:xfrm>
            <a:off x="6926580" y="3697986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chemeClr val="tx1"/>
                </a:solidFill>
              </a:rPr>
              <a:t>da importância total vem de </a:t>
            </a:r>
            <a:r>
              <a:rPr lang="en-US" sz="1400" b="1" dirty="0" err="1">
                <a:solidFill>
                  <a:schemeClr val="tx1"/>
                </a:solidFill>
              </a:rPr>
              <a:t>dtFrequencia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  <p:sp>
        <p:nvSpPr>
          <p:cNvPr id="27" name="Modelo escolhido">
            <a:extLst>
              <a:ext uri="{FF2B5EF4-FFF2-40B4-BE49-F238E27FC236}">
                <a16:creationId xmlns:a16="http://schemas.microsoft.com/office/drawing/2014/main" id="{AD9666B5-648E-7FC4-FDA9-1A530E4E287E}"/>
              </a:ext>
            </a:extLst>
          </p:cNvPr>
          <p:cNvSpPr/>
          <p:nvPr/>
        </p:nvSpPr>
        <p:spPr>
          <a:xfrm>
            <a:off x="6172199" y="1359027"/>
            <a:ext cx="2651760" cy="960120"/>
          </a:xfrm>
          <a:prstGeom prst="roundRect">
            <a:avLst>
              <a:gd name="adj" fmla="val 7619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9" name="Modelo escolhido">
            <a:extLst>
              <a:ext uri="{FF2B5EF4-FFF2-40B4-BE49-F238E27FC236}">
                <a16:creationId xmlns:a16="http://schemas.microsoft.com/office/drawing/2014/main" id="{208A03F5-7E05-D3C0-7F3F-5C7D4A710D20}"/>
              </a:ext>
            </a:extLst>
          </p:cNvPr>
          <p:cNvSpPr/>
          <p:nvPr/>
        </p:nvSpPr>
        <p:spPr>
          <a:xfrm rot="5400000">
            <a:off x="6319707" y="1605915"/>
            <a:ext cx="527945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1" name="Modelo escolhido ícone" descr="preencoded.png">
            <a:extLst>
              <a:ext uri="{FF2B5EF4-FFF2-40B4-BE49-F238E27FC236}">
                <a16:creationId xmlns:a16="http://schemas.microsoft.com/office/drawing/2014/main" id="{1D52AB14-4502-457A-7363-6FAB4CFDD3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9379" y="1720215"/>
            <a:ext cx="228600" cy="228600"/>
          </a:xfrm>
          <a:prstGeom prst="rect">
            <a:avLst/>
          </a:prstGeom>
        </p:spPr>
      </p:pic>
      <p:sp>
        <p:nvSpPr>
          <p:cNvPr id="33" name="Text 4">
            <a:extLst>
              <a:ext uri="{FF2B5EF4-FFF2-40B4-BE49-F238E27FC236}">
                <a16:creationId xmlns:a16="http://schemas.microsoft.com/office/drawing/2014/main" id="{64E0C617-25A4-DD78-8A77-EAB1B9742C8D}"/>
              </a:ext>
            </a:extLst>
          </p:cNvPr>
          <p:cNvSpPr txBox="1"/>
          <p:nvPr/>
        </p:nvSpPr>
        <p:spPr>
          <a:xfrm>
            <a:off x="6949439" y="1496187"/>
            <a:ext cx="1783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Modelo escolhido</a:t>
            </a:r>
            <a:endParaRPr lang="en-US" sz="1100" dirty="0"/>
          </a:p>
        </p:txBody>
      </p:sp>
      <p:sp>
        <p:nvSpPr>
          <p:cNvPr id="35" name="Text 5">
            <a:extLst>
              <a:ext uri="{FF2B5EF4-FFF2-40B4-BE49-F238E27FC236}">
                <a16:creationId xmlns:a16="http://schemas.microsoft.com/office/drawing/2014/main" id="{51E4A028-6823-15D8-06F2-AFA2C093CCCA}"/>
              </a:ext>
            </a:extLst>
          </p:cNvPr>
          <p:cNvSpPr txBox="1"/>
          <p:nvPr/>
        </p:nvSpPr>
        <p:spPr>
          <a:xfrm>
            <a:off x="6949439" y="1724787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 err="1">
                <a:solidFill>
                  <a:schemeClr val="tx1"/>
                </a:solidFill>
              </a:rPr>
              <a:t>RandomForest</a:t>
            </a:r>
            <a:endParaRPr lang="en-US" sz="2200" dirty="0"/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D77F54E7-4BC6-3FCD-C3EE-69599F7AE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613" y="1390974"/>
            <a:ext cx="5322377" cy="287971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ASSESS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Lift de churn por faixa de risco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0759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850392" y="12618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Lift da faixa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679192" y="1380744"/>
            <a:ext cx="274320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Shape 5"/>
          <p:cNvSpPr/>
          <p:nvPr/>
        </p:nvSpPr>
        <p:spPr>
          <a:xfrm>
            <a:off x="2770632" y="1335024"/>
            <a:ext cx="91440" cy="91440"/>
          </a:xfrm>
          <a:prstGeom prst="ellipse">
            <a:avLst/>
          </a:prstGeom>
          <a:solidFill>
            <a:schemeClr val="accent5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 txBox="1"/>
          <p:nvPr/>
        </p:nvSpPr>
        <p:spPr>
          <a:xfrm>
            <a:off x="3044952" y="1261872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Lift acumulado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84632" y="1618488"/>
            <a:ext cx="2743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sysDot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 txBox="1"/>
          <p:nvPr/>
        </p:nvSpPr>
        <p:spPr>
          <a:xfrm>
            <a:off x="850392" y="14996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Lift máximo possível (2,3×)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679192" y="1618488"/>
            <a:ext cx="274320" cy="0"/>
          </a:xfrm>
          <a:prstGeom prst="line">
            <a:avLst/>
          </a:prstGeom>
          <a:noFill/>
          <a:ln w="15875">
            <a:solidFill>
              <a:schemeClr val="tx2"/>
            </a:solidFill>
            <a:prstDash val="dash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 txBox="1"/>
          <p:nvPr/>
        </p:nvSpPr>
        <p:spPr>
          <a:xfrm>
            <a:off x="3044952" y="1499616"/>
            <a:ext cx="1783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chemeClr val="tx2"/>
                </a:solidFill>
              </a:rPr>
              <a:t>Modelo aleatório (1,0×)</a:t>
            </a:r>
            <a:endParaRPr lang="en-US" sz="1000" dirty="0"/>
          </a:p>
        </p:txBody>
      </p:sp>
      <p:pic>
        <p:nvPicPr>
          <p:cNvPr id="13" name="Gráfico de lift de churn" descr="img/lift_chur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810512"/>
            <a:ext cx="5120640" cy="2614932"/>
          </a:xfrm>
          <a:prstGeom prst="rect">
            <a:avLst/>
          </a:prstGeom>
        </p:spPr>
      </p:pic>
      <p:sp>
        <p:nvSpPr>
          <p:cNvPr id="15" name="Destaque 77%"/>
          <p:cNvSpPr/>
          <p:nvPr/>
        </p:nvSpPr>
        <p:spPr>
          <a:xfrm>
            <a:off x="6035040" y="1325880"/>
            <a:ext cx="265176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6217920" y="1417320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77%</a:t>
            </a:r>
            <a:endParaRPr lang="en-US" sz="2800" dirty="0"/>
          </a:p>
        </p:txBody>
      </p:sp>
      <p:sp>
        <p:nvSpPr>
          <p:cNvPr id="17" name="Text 14"/>
          <p:cNvSpPr txBox="1"/>
          <p:nvPr/>
        </p:nvSpPr>
        <p:spPr>
          <a:xfrm>
            <a:off x="6217920" y="1837944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de churn na faixa 1 (20% de maior risco), contra 0% na faixa 5</a:t>
            </a:r>
            <a:endParaRPr lang="en-US" sz="1200" dirty="0"/>
          </a:p>
        </p:txBody>
      </p:sp>
      <p:sp>
        <p:nvSpPr>
          <p:cNvPr id="18" name="Destaque 69%"/>
          <p:cNvSpPr/>
          <p:nvPr/>
        </p:nvSpPr>
        <p:spPr>
          <a:xfrm>
            <a:off x="6035040" y="2441448"/>
            <a:ext cx="265176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9" name="Text 16"/>
          <p:cNvSpPr txBox="1"/>
          <p:nvPr/>
        </p:nvSpPr>
        <p:spPr>
          <a:xfrm>
            <a:off x="6217920" y="2532888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69%</a:t>
            </a:r>
            <a:endParaRPr lang="en-US" sz="2800" dirty="0"/>
          </a:p>
        </p:txBody>
      </p:sp>
      <p:sp>
        <p:nvSpPr>
          <p:cNvPr id="20" name="Text 17"/>
          <p:cNvSpPr txBox="1"/>
          <p:nvPr/>
        </p:nvSpPr>
        <p:spPr>
          <a:xfrm>
            <a:off x="6217920" y="2953512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dos churns estão nos 40% de maior risco</a:t>
            </a:r>
            <a:endParaRPr lang="en-US" sz="1200" dirty="0"/>
          </a:p>
        </p:txBody>
      </p:sp>
      <p:sp>
        <p:nvSpPr>
          <p:cNvPr id="21" name="Destaque 1,8×"/>
          <p:cNvSpPr/>
          <p:nvPr/>
        </p:nvSpPr>
        <p:spPr>
          <a:xfrm>
            <a:off x="6035040" y="3557016"/>
            <a:ext cx="2651760" cy="987552"/>
          </a:xfrm>
          <a:prstGeom prst="roundRect">
            <a:avLst>
              <a:gd name="adj" fmla="val 740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2" name="Text 19"/>
          <p:cNvSpPr txBox="1"/>
          <p:nvPr/>
        </p:nvSpPr>
        <p:spPr>
          <a:xfrm>
            <a:off x="6217920" y="3648456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1,8×</a:t>
            </a:r>
            <a:endParaRPr lang="en-US" sz="2800" dirty="0"/>
          </a:p>
        </p:txBody>
      </p:sp>
      <p:sp>
        <p:nvSpPr>
          <p:cNvPr id="23" name="Text 20"/>
          <p:cNvSpPr txBox="1"/>
          <p:nvPr/>
        </p:nvSpPr>
        <p:spPr>
          <a:xfrm>
            <a:off x="6217920" y="4069080"/>
            <a:ext cx="2331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1"/>
                </a:solidFill>
              </a:rPr>
              <a:t>lift de churn da </a:t>
            </a:r>
            <a:r>
              <a:rPr lang="en-US" sz="1200" dirty="0" err="1">
                <a:solidFill>
                  <a:schemeClr val="tx1"/>
                </a:solidFill>
              </a:rPr>
              <a:t>faixa</a:t>
            </a:r>
            <a:r>
              <a:rPr lang="en-US" sz="1200" dirty="0">
                <a:solidFill>
                  <a:schemeClr val="tx1"/>
                </a:solidFill>
              </a:rPr>
              <a:t> 1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SCORE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Clientes prováveis para Churn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80160"/>
            <a:ext cx="2377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6000" b="1" dirty="0">
                <a:solidFill>
                  <a:schemeClr val="accent1"/>
                </a:solidFill>
              </a:rPr>
              <a:t>50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4884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clientes com a maior probabilidade de churn estimada pelo modelo</a:t>
            </a:r>
            <a:endParaRPr lang="en-US" sz="1400" dirty="0"/>
          </a:p>
        </p:txBody>
      </p:sp>
      <p:sp>
        <p:nvSpPr>
          <p:cNvPr id="6" name="Faixa de probabilidade"/>
          <p:cNvSpPr/>
          <p:nvPr/>
        </p:nvSpPr>
        <p:spPr>
          <a:xfrm>
            <a:off x="457200" y="2971800"/>
            <a:ext cx="23774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 txBox="1"/>
          <p:nvPr/>
        </p:nvSpPr>
        <p:spPr>
          <a:xfrm>
            <a:off x="640080" y="30449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prob_churn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2918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tx1"/>
                </a:solidFill>
              </a:rPr>
              <a:t>81,8% a 99,0%</a:t>
            </a:r>
            <a:endParaRPr lang="en-US" sz="2000" dirty="0"/>
          </a:p>
        </p:txBody>
      </p:sp>
      <p:graphicFrame>
        <p:nvGraphicFramePr>
          <p:cNvPr id="15" name="Tabela clientes"/>
          <p:cNvGraphicFramePr>
            <a:graphicFrameLocks noGrp="1"/>
          </p:cNvGraphicFramePr>
          <p:nvPr/>
        </p:nvGraphicFramePr>
        <p:xfrm>
          <a:off x="3108960" y="1280160"/>
          <a:ext cx="5577840" cy="3291840"/>
        </p:xfrm>
        <a:graphic>
          <a:graphicData uri="http://schemas.openxmlformats.org/drawingml/2006/table">
            <a:tbl>
              <a:tblPr/>
              <a:tblGrid>
                <a:gridCol w="3474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760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747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585216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A5670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5670"/>
                          </a:solidFill>
                        </a:rPr>
                        <a:t>IdCliente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A5670"/>
                          </a:solidFill>
                        </a:rPr>
                        <a:t>prob.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A5670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5670"/>
                          </a:solidFill>
                        </a:rPr>
                        <a:t>IdCliente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A5670"/>
                          </a:solidFill>
                        </a:rPr>
                        <a:t>prob.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A5670"/>
                          </a:solidFill>
                        </a:rPr>
                        <a:t>#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4A5670"/>
                          </a:solidFill>
                        </a:rPr>
                        <a:t>IdCliente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4A5670"/>
                          </a:solidFill>
                        </a:rPr>
                        <a:t>prob.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4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a1db280b…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99,0%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bd98ecd6…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90,9%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35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9d4a300b…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86,3%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d67e9bfb…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96,3%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0b592dd4…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90,7%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36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fa376209…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86,0%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fd663d42…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96,1%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20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31244830…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90,1%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962106b9…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85,7%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4fa284fb…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95,1%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21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e6c5a6c7…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89,8%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eba7151f…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85,4%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5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ca765ed2…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94,7%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b3125691…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89,8%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0e2cde64…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85,2%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6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dc0f534d…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94,2%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23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549cd57d…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89,7%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40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57ecc47e…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84,5%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7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4cd2358e…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93,6%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24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c68f7dfe…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89,5%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41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d646ff94…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84,1%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aafb7ea2…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93,5%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25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05c0957e…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89,5%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42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fd60694f…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83,9%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9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ee66216e…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93,2%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57006641…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89,3%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0dcce5eb…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83,7%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119b90af…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92,7%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27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f11f8b8e…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89,0%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44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735e2557…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83,7%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11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028d6ac0…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92,5%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28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188b3d9b…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88,9%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45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9419c300…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83,7%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6fdd59b2…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92,2%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1a666846…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88,9%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46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e1275ac9…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83,4%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c0cc5117…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92,2%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56d909b7…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88,8%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47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d92138ad…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83,3%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14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bc027356…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92,0%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31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7b9af422…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87,1%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48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27b14d7a…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82,8%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bbe410ff…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91,7%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32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d4ce2a45…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86,7%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a14274d3…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82,2%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16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e58e35dd…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91,3%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33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aae1a6a4…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86,7%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50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09aef4e8…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81,8%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99c7eff2…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91,2%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dirty="0">
                          <a:solidFill>
                            <a:srgbClr val="4A5670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2B4B"/>
                          </a:solidFill>
                        </a:rPr>
                        <a:t>ddf0d246…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00" b="1" dirty="0">
                          <a:solidFill>
                            <a:srgbClr val="2A78D6"/>
                          </a:solidFill>
                        </a:rPr>
                        <a:t>86,4%</a:t>
                      </a: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marL="45720" marR="45720" marT="0" marB="0" anchor="ctr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00" dirty="0"/>
                    </a:p>
                  </a:txBody>
                  <a:tcPr marL="45720" marR="4572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1" hasCustomPrompt="1"/>
          </p:nvPr>
        </p:nvSpPr>
        <p:spPr>
          <a:xfrm>
            <a:off x="457200" y="274320"/>
            <a:ext cx="6217920" cy="237744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100" b="1" kern="0" spc="300" dirty="0">
                <a:solidFill>
                  <a:schemeClr val="accent1"/>
                </a:solidFill>
              </a:rPr>
              <a:t>AÇÃO</a:t>
            </a:r>
            <a:endParaRPr lang="en-US" sz="1100" dirty="0"/>
          </a:p>
        </p:txBody>
      </p:sp>
      <p:sp>
        <p:nvSpPr>
          <p:cNvPr id="3" name="Text 0"/>
          <p:cNvSpPr>
            <a:spLocks noGrp="1"/>
          </p:cNvSpPr>
          <p:nvPr>
            <p:ph type="title" idx="102" hasCustomPrompt="1"/>
          </p:nvPr>
        </p:nvSpPr>
        <p:spPr>
          <a:xfrm>
            <a:off x="457200" y="51206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chemeClr val="tx1"/>
                </a:solidFill>
              </a:rPr>
              <a:t>Plano de retenção com pontos</a:t>
            </a:r>
            <a:endParaRPr lang="en-US" sz="3000" dirty="0"/>
          </a:p>
        </p:txBody>
      </p:sp>
      <p:sp>
        <p:nvSpPr>
          <p:cNvPr id="4" name="Público"/>
          <p:cNvSpPr/>
          <p:nvPr/>
        </p:nvSpPr>
        <p:spPr>
          <a:xfrm>
            <a:off x="457200" y="1298448"/>
            <a:ext cx="2331720" cy="2551176"/>
          </a:xfrm>
          <a:prstGeom prst="roundRect">
            <a:avLst>
              <a:gd name="adj" fmla="val 3137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5" name="Text 3"/>
          <p:cNvSpPr txBox="1"/>
          <p:nvPr/>
        </p:nvSpPr>
        <p:spPr>
          <a:xfrm>
            <a:off x="640080" y="141732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chemeClr val="accent1"/>
                </a:solidFill>
              </a:rPr>
              <a:t>PÚBLICO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459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chemeClr val="tx1"/>
                </a:solidFill>
              </a:rPr>
              <a:t>50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21284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clientes com a maior probabilidade de churn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7889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chemeClr val="accent5"/>
                </a:solidFill>
              </a:rPr>
              <a:t>77%</a:t>
            </a:r>
            <a:endParaRPr lang="en-US" sz="3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2461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de churn na faixa de maior risco do OOT</a:t>
            </a:r>
            <a:endParaRPr lang="en-US" sz="1100" dirty="0"/>
          </a:p>
        </p:txBody>
      </p:sp>
      <p:sp>
        <p:nvSpPr>
          <p:cNvPr id="10" name="Mecânica Bônus de retorno"/>
          <p:cNvSpPr/>
          <p:nvPr/>
        </p:nvSpPr>
        <p:spPr>
          <a:xfrm>
            <a:off x="3017520" y="1298448"/>
            <a:ext cx="56692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1" name="Mecânica Bônus de retorno"/>
          <p:cNvSpPr/>
          <p:nvPr/>
        </p:nvSpPr>
        <p:spPr>
          <a:xfrm rot="5400000">
            <a:off x="3137596" y="1458468"/>
            <a:ext cx="527945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2" name="Mecânica Bônus de retorno ícone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7268" y="1572768"/>
            <a:ext cx="228600" cy="22860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3794760" y="1389888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Bônus de retorno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3794760" y="163677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Pontos em dobro na primeira presença em live das próximas 4 semanas</a:t>
            </a:r>
            <a:endParaRPr lang="en-US" sz="1200" dirty="0"/>
          </a:p>
        </p:txBody>
      </p:sp>
      <p:sp>
        <p:nvSpPr>
          <p:cNvPr id="15" name="Tag Recência"/>
          <p:cNvSpPr/>
          <p:nvPr/>
        </p:nvSpPr>
        <p:spPr>
          <a:xfrm>
            <a:off x="7269480" y="1545336"/>
            <a:ext cx="128016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6" name="Text 13"/>
          <p:cNvSpPr txBox="1"/>
          <p:nvPr/>
        </p:nvSpPr>
        <p:spPr>
          <a:xfrm>
            <a:off x="7269480" y="1545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Recência</a:t>
            </a:r>
            <a:endParaRPr lang="en-US" sz="1000" dirty="0"/>
          </a:p>
        </p:txBody>
      </p:sp>
      <p:sp>
        <p:nvSpPr>
          <p:cNvPr id="17" name="Mecânica Desafio de sequência"/>
          <p:cNvSpPr/>
          <p:nvPr/>
        </p:nvSpPr>
        <p:spPr>
          <a:xfrm>
            <a:off x="3017520" y="2185416"/>
            <a:ext cx="56692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18" name="Mecânica Desafio de sequência"/>
          <p:cNvSpPr/>
          <p:nvPr/>
        </p:nvSpPr>
        <p:spPr>
          <a:xfrm rot="5400000">
            <a:off x="3137596" y="2345436"/>
            <a:ext cx="527945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19" name="Mecânica Desafio de sequência ícone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7268" y="2459736"/>
            <a:ext cx="228600" cy="22860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3794760" y="2276856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Desafio de sequência</a:t>
            </a:r>
            <a:endParaRPr lang="en-US" sz="1400" dirty="0"/>
          </a:p>
        </p:txBody>
      </p:sp>
      <p:sp>
        <p:nvSpPr>
          <p:cNvPr id="21" name="Text 17"/>
          <p:cNvSpPr txBox="1"/>
          <p:nvPr/>
        </p:nvSpPr>
        <p:spPr>
          <a:xfrm>
            <a:off x="3794760" y="25237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Bônus crescente a cada presença seguida em lives (ex.: 3 seguidas)</a:t>
            </a:r>
            <a:endParaRPr lang="en-US" sz="1200" dirty="0"/>
          </a:p>
        </p:txBody>
      </p:sp>
      <p:sp>
        <p:nvSpPr>
          <p:cNvPr id="22" name="Tag Frequência e streak"/>
          <p:cNvSpPr/>
          <p:nvPr/>
        </p:nvSpPr>
        <p:spPr>
          <a:xfrm>
            <a:off x="7269480" y="2432304"/>
            <a:ext cx="128016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3" name="Text 19"/>
          <p:cNvSpPr txBox="1"/>
          <p:nvPr/>
        </p:nvSpPr>
        <p:spPr>
          <a:xfrm>
            <a:off x="7269480" y="243230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Frequência e streak</a:t>
            </a:r>
            <a:endParaRPr lang="en-US" sz="1000" dirty="0"/>
          </a:p>
        </p:txBody>
      </p:sp>
      <p:sp>
        <p:nvSpPr>
          <p:cNvPr id="24" name="Mecânica Resgate facilitado"/>
          <p:cNvSpPr/>
          <p:nvPr/>
        </p:nvSpPr>
        <p:spPr>
          <a:xfrm>
            <a:off x="3017520" y="3072384"/>
            <a:ext cx="566928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25" name="Mecânica Resgate facilitado"/>
          <p:cNvSpPr/>
          <p:nvPr/>
        </p:nvSpPr>
        <p:spPr>
          <a:xfrm rot="5400000">
            <a:off x="3137596" y="3232404"/>
            <a:ext cx="527945" cy="457200"/>
          </a:xfrm>
          <a:prstGeom prst="hexagon">
            <a:avLst/>
          </a:prstGeom>
          <a:solidFill>
            <a:schemeClr val="accent1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26" name="Mecânica Resgate facilitado ícone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7268" y="3346704"/>
            <a:ext cx="228600" cy="228600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3794760" y="3163824"/>
            <a:ext cx="2560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tx1"/>
                </a:solidFill>
              </a:rPr>
              <a:t>Resgate facilitado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3794760" y="341071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Recompensa exclusiva e de menor custo para quem tem saldo parado</a:t>
            </a:r>
            <a:endParaRPr lang="en-US" sz="1200" dirty="0"/>
          </a:p>
        </p:txBody>
      </p:sp>
      <p:sp>
        <p:nvSpPr>
          <p:cNvPr id="29" name="Tag Saldo de pontos"/>
          <p:cNvSpPr/>
          <p:nvPr/>
        </p:nvSpPr>
        <p:spPr>
          <a:xfrm>
            <a:off x="7269480" y="3319272"/>
            <a:ext cx="1280160" cy="274320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0" name="Text 25"/>
          <p:cNvSpPr txBox="1"/>
          <p:nvPr/>
        </p:nvSpPr>
        <p:spPr>
          <a:xfrm>
            <a:off x="7269480" y="331927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Saldo de pontos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7269480" y="10972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200" dirty="0">
                <a:solidFill>
                  <a:schemeClr val="tx2"/>
                </a:solidFill>
              </a:rPr>
              <a:t>ATUA EM</a:t>
            </a:r>
            <a:endParaRPr lang="en-US" sz="900" dirty="0"/>
          </a:p>
        </p:txBody>
      </p:sp>
      <p:sp>
        <p:nvSpPr>
          <p:cNvPr id="32" name="Medição"/>
          <p:cNvSpPr/>
          <p:nvPr/>
        </p:nvSpPr>
        <p:spPr>
          <a:xfrm>
            <a:off x="457200" y="3959352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  <p:txBody>
          <a:bodyPr/>
          <a:lstStyle/>
          <a:p>
            <a:endParaRPr lang="pt-BR"/>
          </a:p>
        </p:txBody>
      </p:sp>
      <p:sp>
        <p:nvSpPr>
          <p:cNvPr id="33" name="Medição Grupo de controle"/>
          <p:cNvSpPr/>
          <p:nvPr/>
        </p:nvSpPr>
        <p:spPr>
          <a:xfrm rot="5400000">
            <a:off x="584350" y="4142232"/>
            <a:ext cx="422356" cy="365760"/>
          </a:xfrm>
          <a:prstGeom prst="hexag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4" name="Medição Grupo de controle ícone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4088" y="4233672"/>
            <a:ext cx="182880" cy="182880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1097280" y="4041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Grupo de controle</a:t>
            </a:r>
            <a:endParaRPr lang="en-US" sz="1200" dirty="0"/>
          </a:p>
        </p:txBody>
      </p:sp>
      <p:sp>
        <p:nvSpPr>
          <p:cNvPr id="36" name="Text 30"/>
          <p:cNvSpPr txBox="1"/>
          <p:nvPr/>
        </p:nvSpPr>
        <p:spPr>
          <a:xfrm>
            <a:off x="1097280" y="42611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Metade dos 50, sorteada, não recebe a ação</a:t>
            </a:r>
            <a:endParaRPr lang="en-US" sz="1100" dirty="0"/>
          </a:p>
        </p:txBody>
      </p:sp>
      <p:sp>
        <p:nvSpPr>
          <p:cNvPr id="37" name="Medição Métrica"/>
          <p:cNvSpPr/>
          <p:nvPr/>
        </p:nvSpPr>
        <p:spPr>
          <a:xfrm rot="5400000">
            <a:off x="3309262" y="4142232"/>
            <a:ext cx="422356" cy="365760"/>
          </a:xfrm>
          <a:prstGeom prst="hexag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38" name="Medição Métrica ícone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29000" y="4233672"/>
            <a:ext cx="182880" cy="182880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3822192" y="4041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Métrica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3822192" y="42611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Taxa de churn em 28 dias: tratado × controle</a:t>
            </a:r>
            <a:endParaRPr lang="en-US" sz="1100" dirty="0"/>
          </a:p>
        </p:txBody>
      </p:sp>
      <p:sp>
        <p:nvSpPr>
          <p:cNvPr id="41" name="Medição Cadência"/>
          <p:cNvSpPr/>
          <p:nvPr/>
        </p:nvSpPr>
        <p:spPr>
          <a:xfrm rot="5400000">
            <a:off x="6034174" y="4142232"/>
            <a:ext cx="422356" cy="365760"/>
          </a:xfrm>
          <a:prstGeom prst="hexagon">
            <a:avLst/>
          </a:prstGeom>
          <a:solidFill>
            <a:schemeClr val="accent2"/>
          </a:solidFill>
          <a:ln/>
        </p:spPr>
        <p:txBody>
          <a:bodyPr/>
          <a:lstStyle/>
          <a:p>
            <a:endParaRPr lang="pt-BR"/>
          </a:p>
        </p:txBody>
      </p:sp>
      <p:pic>
        <p:nvPicPr>
          <p:cNvPr id="42" name="Medição Cadência ícone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53912" y="4233672"/>
            <a:ext cx="182880" cy="182880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6547104" y="4041648"/>
            <a:ext cx="2103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tx1"/>
                </a:solidFill>
              </a:rPr>
              <a:t>Cadência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6547104" y="426110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chemeClr val="tx2"/>
                </a:solidFill>
              </a:rPr>
              <a:t>Repetir a cada nova safra mensal</a:t>
            </a:r>
            <a:endParaRPr lang="en-US" sz="1100" dirty="0"/>
          </a:p>
        </p:txBody>
      </p:sp>
      <p:sp>
        <p:nvSpPr>
          <p:cNvPr id="4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9744"/>
            <a:ext cx="457200" cy="201168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900">
                <a:solidFill>
                  <a:srgbClr val="4A5670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1" hasCustomPrompt="1"/>
          </p:nvPr>
        </p:nvSpPr>
        <p:spPr>
          <a:xfrm>
            <a:off x="5486400" y="173736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4800" b="1" dirty="0">
                <a:solidFill>
                  <a:schemeClr val="tx1"/>
                </a:solidFill>
              </a:rPr>
              <a:t>Obrigado</a:t>
            </a:r>
            <a:endParaRPr lang="en-US" sz="4800" dirty="0"/>
          </a:p>
        </p:txBody>
      </p:sp>
      <p:sp>
        <p:nvSpPr>
          <p:cNvPr id="3" name="Text 0"/>
          <p:cNvSpPr>
            <a:spLocks noGrp="1"/>
          </p:cNvSpPr>
          <p:nvPr>
            <p:ph type="body" idx="102" hasCustomPrompt="1"/>
          </p:nvPr>
        </p:nvSpPr>
        <p:spPr>
          <a:xfrm>
            <a:off x="5486400" y="278892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 algn="l">
              <a:buNone/>
            </a:pPr>
            <a:r>
              <a:rPr lang="en-US" sz="1600" dirty="0">
                <a:solidFill>
                  <a:schemeClr val="tx2"/>
                </a:solidFill>
              </a:rPr>
              <a:t>George Pagliuso  ·  2026</a:t>
            </a:r>
            <a:endParaRPr lang="en-US" sz="1600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59A30BB2-4405-3AC5-8C32-F31D8565FF40}"/>
              </a:ext>
            </a:extLst>
          </p:cNvPr>
          <p:cNvSpPr txBox="1"/>
          <p:nvPr/>
        </p:nvSpPr>
        <p:spPr>
          <a:xfrm>
            <a:off x="567891" y="4437137"/>
            <a:ext cx="80082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/>
              <a:t>https://github.com/geopagliuso/Case_Pratico_em_Python_Databricks_ASN_ROCKS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exagonos Data">
  <a:themeElements>
    <a:clrScheme name="Hexagonos Data">
      <a:dk1>
        <a:srgbClr val="1B2B4B"/>
      </a:dk1>
      <a:lt1>
        <a:srgbClr val="FFFFFF"/>
      </a:lt1>
      <a:dk2>
        <a:srgbClr val="4A5670"/>
      </a:dk2>
      <a:lt2>
        <a:srgbClr val="EEF4FE"/>
      </a:lt2>
      <a:accent1>
        <a:srgbClr val="2A78D6"/>
      </a:accent1>
      <a:accent2>
        <a:srgbClr val="6BD9F5"/>
      </a:accent2>
      <a:accent3>
        <a:srgbClr val="AFC6FE"/>
      </a:accent3>
      <a:accent4>
        <a:srgbClr val="A0CBFD"/>
      </a:accent4>
      <a:accent5>
        <a:srgbClr val="EB6834"/>
      </a:accent5>
      <a:accent6>
        <a:srgbClr val="0E8FB8"/>
      </a:accent6>
      <a:hlink>
        <a:srgbClr val="2A78D6"/>
      </a:hlink>
      <a:folHlink>
        <a:srgbClr val="5B6CD9"/>
      </a:folHlink>
    </a:clrScheme>
    <a:fontScheme name="Hexagonos Dat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</TotalTime>
  <Words>2233</Words>
  <Application>Microsoft Office PowerPoint</Application>
  <PresentationFormat>Apresentação na tela (16:9)</PresentationFormat>
  <Paragraphs>438</Paragraphs>
  <Slides>17</Slides>
  <Notes>17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Calibri</vt:lpstr>
      <vt:lpstr>Hexagonos Data</vt:lpstr>
      <vt:lpstr>Case Prático em Python e Databricks</vt:lpstr>
      <vt:lpstr>Problema de Negócio</vt:lpstr>
      <vt:lpstr>Amostra</vt:lpstr>
      <vt:lpstr>Imputação de variáveis</vt:lpstr>
      <vt:lpstr>Exploração de dados</vt:lpstr>
      <vt:lpstr>Variáveis quase constantes</vt:lpstr>
      <vt:lpstr>Information Value (IV)</vt:lpstr>
      <vt:lpstr>Correlação entre variáveis</vt:lpstr>
      <vt:lpstr>Seleção de variáveis</vt:lpstr>
      <vt:lpstr>Algoritmos e grid de hiperparâmetros</vt:lpstr>
      <vt:lpstr>Comparação dos algoritmos</vt:lpstr>
      <vt:lpstr>Variáveis mais importantes</vt:lpstr>
      <vt:lpstr>Variáveis mais importantes</vt:lpstr>
      <vt:lpstr>Lift de churn por faixa de risco</vt:lpstr>
      <vt:lpstr>Clientes prováveis para Churn</vt:lpstr>
      <vt:lpstr>Plano de retenção com pontos</vt:lpstr>
      <vt:lpstr>Obrigado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Prático em Python e Databricks</dc:title>
  <dc:subject>PptxGenJS Presentation</dc:subject>
  <dc:creator>George Pagliuso</dc:creator>
  <cp:lastModifiedBy>George Pagliuso</cp:lastModifiedBy>
  <cp:revision>7</cp:revision>
  <dcterms:created xsi:type="dcterms:W3CDTF">2026-10-07T04:03:37Z</dcterms:created>
  <dcterms:modified xsi:type="dcterms:W3CDTF">2026-10-13T02:16:45Z</dcterms:modified>
</cp:coreProperties>
</file>